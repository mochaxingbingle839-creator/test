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0" d="100"/>
          <a:sy n="90" d="100"/>
        </p:scale>
        <p:origin x="17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大家好，今天要介绍的不是又一个重型绘图软件，而是一款真正‘零安装’的Python矢量图编辑器——它不依赖任何第三方库，只靠Python自带的tkinter，就能完成从流程图到电路草图的全部绘制。轻量、干净、可教学，是我们设计的起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份报告分为四个部分：先整体了解项目定位与运行方式；再逐一展示核心绘图与编辑能力；接着深入数据结构与曲线实现原理；最后总结优势，并展望未来可能。我们按‘用得上→玩得转→看得懂→走得远’的逻辑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现在我们来看项目简介——这不是一个功能堆砌的工具，而是为清晰表达服务的轻量级图形解决方案。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它定位很明确：一款纯Python标准库实现的轻量级图形设计工具。核心目标就一个——用最简依赖，满足真实场景中的基础绘图需求。比如教学演示时随手画个流程图，或者工程师快速勾勒电路草图。不装包、不配环境，写完代码就能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启动非常简单：终端里敲一行`python vector_editor.py`，立刻打开界面。为什么能做到？因为整个程序只依赖tkinter——Python自带，无需pip install。这意味着没有版本冲突，没有权限报错，也没有‘我的电脑就是跑不起来’的尴尬。真正的开箱即用。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接下来进入核心功能展示——这些能力共同构成了‘好用’的底气。不是所有功能都重要，但每一项都直击日常绘图痛点。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先看基础绘制：它不只是画矩形和椭圆，而是分场景提供三类图元——几何图形打底、流程图符号提效、电路元件降门槛。比如拖一个‘判断框’，就自动带菱形边框和进出箭头；点一下‘电阻’，符号立刻就位。省去手动调整的每一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更关键的是编辑自由度：文本能直接贴在图形上并调字号；选中多个图元，一键复制粘贴或批量删除；还能随时‘置顶’‘置底’管理叠放顺序；旋转、镜像、缩放全支持——这些不是锦上添花，而是让修改真正成为设计的一部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文件操作也兼顾实用与专业：保存是JSON格式，存的是坐标、类型、属性等矢量数据，下次打开还能继续编辑；导出则是PNG快照，方便插进PPT或发给同事看效果。一存一导，各司其职，不混淆用途。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现在我们揭开‘轻量’背后的硬核逻辑——技术原理说明。它之所以小而稳，正源于对数据结构的克制设计和对曲线操作的精准抽象。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所有图形在内存里就是一个Python字典：type定义形状，x/y/w/h定位尺寸，rotation、text等按需扩展。曲线更进一步——参数化曲线记控制点，自由曲线存点序列。结构清晰、增删容易，连初学者读源码都能一眼看懂数据流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曲线编辑不是画完就定型。自由曲线支持手绘式拖拽；参数化曲线则提供圆形控制点，拖动就能实时调整弯曲弧度。配合选择工具，你可以边画边改、边改边试——交互反馈快，才是高效创作的前提。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最后是总结与展望——我们不只交付一个工具，更希望留下一条可延伸的技术路径。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一句话总结：它轻，因为只靠标准库；它快，因为启动即用；它实，因为专为教学、草图、快速表达而生。对初学者是GUI入门范本，对老师是课堂演示利器，对工程师是思维可视化助手。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未来有三个方向：一是丰富符号库和视觉特效，比如加阴影和透明度；二是把核心模型搬上Web，做成跨平台网页版；三是开放社区共建——欢迎你来提Issue、写PR，一起把它变成更强大的开源工具。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以上就是Python矢量图编辑器的全部分享。它小，但完整；轻，但扎实；简单，却不妥协表达力。谢谢大家，欢迎提问！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947D65">
            <a:alpha val="100000"/>
            <a:lumMod val="40000"/>
            <a:lumOff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33" y="300236"/>
            <a:ext cx="12077172" cy="6246614"/>
            <a:chOff x="8133" y="300236"/>
            <a:chExt cx="12077172" cy="6246614"/>
          </a:xfrm>
        </p:grpSpPr>
        <p:grpSp>
          <p:nvGrpSpPr>
            <p:cNvPr id="3" name="Group 3"/>
            <p:cNvGrpSpPr/>
            <p:nvPr/>
          </p:nvGrpSpPr>
          <p:grpSpPr>
            <a:xfrm>
              <a:off x="247650" y="300236"/>
              <a:ext cx="11684000" cy="6246614"/>
              <a:chOff x="241300" y="300236"/>
              <a:chExt cx="11684000" cy="6246614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241300" y="300236"/>
                <a:ext cx="11684000" cy="6246614"/>
                <a:chOff x="292100" y="300236"/>
                <a:chExt cx="11684000" cy="6246614"/>
              </a:xfrm>
            </p:grpSpPr>
            <p:sp>
              <p:nvSpPr>
                <p:cNvPr id="5" name="AutoShape 5"/>
                <p:cNvSpPr/>
                <p:nvPr/>
              </p:nvSpPr>
              <p:spPr>
                <a:xfrm>
                  <a:off x="292100" y="300236"/>
                  <a:ext cx="11684000" cy="6246614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CE8E">
                    <a:alpha val="100000"/>
                    <a:lumMod val="20000"/>
                    <a:lumOff val="80000"/>
                  </a:srgbClr>
                </a:solidFill>
                <a:ln w="22225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6" name="AutoShape 6"/>
                <p:cNvSpPr/>
                <p:nvPr/>
              </p:nvSpPr>
              <p:spPr>
                <a:xfrm>
                  <a:off x="292100" y="1086232"/>
                  <a:ext cx="11684000" cy="0"/>
                </a:xfrm>
                <a:prstGeom prst="line">
                  <a:avLst/>
                </a:prstGeom>
                <a:ln w="31750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7" name="Group 7"/>
              <p:cNvGrpSpPr/>
              <p:nvPr/>
            </p:nvGrpSpPr>
            <p:grpSpPr>
              <a:xfrm>
                <a:off x="10604705" y="673336"/>
                <a:ext cx="888795" cy="164628"/>
                <a:chOff x="10630105" y="635472"/>
                <a:chExt cx="888795" cy="164628"/>
              </a:xfrm>
            </p:grpSpPr>
            <p:sp>
              <p:nvSpPr>
                <p:cNvPr id="8" name="AutoShape 8"/>
                <p:cNvSpPr/>
                <p:nvPr/>
              </p:nvSpPr>
              <p:spPr>
                <a:xfrm flipH="1">
                  <a:off x="11007439" y="641350"/>
                  <a:ext cx="163077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906" h="221267">
                      <a:moveTo>
                        <a:pt x="0" y="0"/>
                      </a:moveTo>
                      <a:lnTo>
                        <a:pt x="220906" y="0"/>
                      </a:lnTo>
                      <a:lnTo>
                        <a:pt x="220906" y="221267"/>
                      </a:lnTo>
                      <a:lnTo>
                        <a:pt x="0" y="221267"/>
                      </a:lnTo>
                      <a:close/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AutoShape 9"/>
                <p:cNvSpPr/>
                <p:nvPr/>
              </p:nvSpPr>
              <p:spPr>
                <a:xfrm flipH="1">
                  <a:off x="10630105" y="721533"/>
                  <a:ext cx="183063" cy="48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78" h="36095">
                      <a:moveTo>
                        <a:pt x="0" y="0"/>
                      </a:moveTo>
                      <a:lnTo>
                        <a:pt x="247978" y="0"/>
                      </a:lnTo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0" name="Group 10"/>
                <p:cNvGrpSpPr/>
                <p:nvPr/>
              </p:nvGrpSpPr>
              <p:grpSpPr>
                <a:xfrm>
                  <a:off x="11359526" y="635472"/>
                  <a:ext cx="159374" cy="164345"/>
                  <a:chOff x="11359526" y="635472"/>
                  <a:chExt cx="159374" cy="164345"/>
                </a:xfrm>
              </p:grpSpPr>
              <p:sp>
                <p:nvSpPr>
                  <p:cNvPr id="11" name="AutoShape 11"/>
                  <p:cNvSpPr/>
                  <p:nvPr/>
                </p:nvSpPr>
                <p:spPr>
                  <a:xfrm flipH="1">
                    <a:off x="11364083" y="635472"/>
                    <a:ext cx="154817" cy="1643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716" h="209716">
                        <a:moveTo>
                          <a:pt x="209717" y="0"/>
                        </a:moveTo>
                        <a:lnTo>
                          <a:pt x="0" y="209717"/>
                        </a:lnTo>
                      </a:path>
                    </a:pathLst>
                  </a:custGeom>
                  <a:ln w="36059">
                    <a:solidFill>
                      <a:srgbClr val="000000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" name="AutoShape 12"/>
                  <p:cNvSpPr/>
                  <p:nvPr/>
                </p:nvSpPr>
                <p:spPr>
                  <a:xfrm>
                    <a:off x="11359526" y="635472"/>
                    <a:ext cx="154817" cy="1643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716" h="209716">
                        <a:moveTo>
                          <a:pt x="209717" y="0"/>
                        </a:moveTo>
                        <a:lnTo>
                          <a:pt x="0" y="209717"/>
                        </a:lnTo>
                      </a:path>
                    </a:pathLst>
                  </a:custGeom>
                  <a:ln w="36059">
                    <a:solidFill>
                      <a:srgbClr val="000000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</p:sp>
            </p:grpSp>
          </p:grpSp>
        </p:grpSp>
        <p:grpSp>
          <p:nvGrpSpPr>
            <p:cNvPr id="13" name="Group 13"/>
            <p:cNvGrpSpPr/>
            <p:nvPr/>
          </p:nvGrpSpPr>
          <p:grpSpPr>
            <a:xfrm>
              <a:off x="1047032" y="844628"/>
              <a:ext cx="10085236" cy="5391867"/>
              <a:chOff x="241300" y="300236"/>
              <a:chExt cx="11684000" cy="6246614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241300" y="300236"/>
                <a:ext cx="11684000" cy="6246614"/>
                <a:chOff x="292100" y="300236"/>
                <a:chExt cx="11684000" cy="6246614"/>
              </a:xfrm>
            </p:grpSpPr>
            <p:sp>
              <p:nvSpPr>
                <p:cNvPr id="15" name="AutoShape 15"/>
                <p:cNvSpPr/>
                <p:nvPr/>
              </p:nvSpPr>
              <p:spPr>
                <a:xfrm>
                  <a:off x="292100" y="300236"/>
                  <a:ext cx="11684000" cy="6246614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CE8E">
                    <a:alpha val="100000"/>
                    <a:lumMod val="20000"/>
                    <a:lumOff val="80000"/>
                  </a:srgbClr>
                </a:solidFill>
                <a:ln w="22225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AutoShape 16"/>
                <p:cNvSpPr/>
                <p:nvPr/>
              </p:nvSpPr>
              <p:spPr>
                <a:xfrm>
                  <a:off x="292100" y="1086232"/>
                  <a:ext cx="11684000" cy="0"/>
                </a:xfrm>
                <a:prstGeom prst="line">
                  <a:avLst/>
                </a:prstGeom>
                <a:ln w="31750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17" name="Group 17"/>
              <p:cNvGrpSpPr/>
              <p:nvPr/>
            </p:nvGrpSpPr>
            <p:grpSpPr>
              <a:xfrm>
                <a:off x="10604705" y="673336"/>
                <a:ext cx="888795" cy="164628"/>
                <a:chOff x="10630105" y="635472"/>
                <a:chExt cx="888795" cy="164628"/>
              </a:xfrm>
            </p:grpSpPr>
            <p:sp>
              <p:nvSpPr>
                <p:cNvPr id="18" name="AutoShape 18"/>
                <p:cNvSpPr/>
                <p:nvPr/>
              </p:nvSpPr>
              <p:spPr>
                <a:xfrm flipH="1">
                  <a:off x="11007439" y="641350"/>
                  <a:ext cx="163077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906" h="221267">
                      <a:moveTo>
                        <a:pt x="0" y="0"/>
                      </a:moveTo>
                      <a:lnTo>
                        <a:pt x="220906" y="0"/>
                      </a:lnTo>
                      <a:lnTo>
                        <a:pt x="220906" y="221267"/>
                      </a:lnTo>
                      <a:lnTo>
                        <a:pt x="0" y="221267"/>
                      </a:lnTo>
                      <a:close/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AutoShape 19"/>
                <p:cNvSpPr/>
                <p:nvPr/>
              </p:nvSpPr>
              <p:spPr>
                <a:xfrm flipH="1">
                  <a:off x="10630105" y="721533"/>
                  <a:ext cx="183063" cy="48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78" h="36095">
                      <a:moveTo>
                        <a:pt x="0" y="0"/>
                      </a:moveTo>
                      <a:lnTo>
                        <a:pt x="247978" y="0"/>
                      </a:lnTo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20" name="Group 20"/>
                <p:cNvGrpSpPr/>
                <p:nvPr/>
              </p:nvGrpSpPr>
              <p:grpSpPr>
                <a:xfrm>
                  <a:off x="11359526" y="635472"/>
                  <a:ext cx="159374" cy="164345"/>
                  <a:chOff x="11359526" y="635472"/>
                  <a:chExt cx="159374" cy="164345"/>
                </a:xfrm>
              </p:grpSpPr>
              <p:sp>
                <p:nvSpPr>
                  <p:cNvPr id="21" name="AutoShape 21"/>
                  <p:cNvSpPr/>
                  <p:nvPr/>
                </p:nvSpPr>
                <p:spPr>
                  <a:xfrm flipH="1">
                    <a:off x="11364083" y="635472"/>
                    <a:ext cx="154817" cy="1643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716" h="209716">
                        <a:moveTo>
                          <a:pt x="209717" y="0"/>
                        </a:moveTo>
                        <a:lnTo>
                          <a:pt x="0" y="209717"/>
                        </a:lnTo>
                      </a:path>
                    </a:pathLst>
                  </a:custGeom>
                  <a:ln w="36059">
                    <a:solidFill>
                      <a:srgbClr val="000000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2" name="AutoShape 22"/>
                  <p:cNvSpPr/>
                  <p:nvPr/>
                </p:nvSpPr>
                <p:spPr>
                  <a:xfrm>
                    <a:off x="11359526" y="635472"/>
                    <a:ext cx="154817" cy="1643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716" h="209716">
                        <a:moveTo>
                          <a:pt x="209717" y="0"/>
                        </a:moveTo>
                        <a:lnTo>
                          <a:pt x="0" y="209717"/>
                        </a:lnTo>
                      </a:path>
                    </a:pathLst>
                  </a:custGeom>
                  <a:ln w="36059">
                    <a:solidFill>
                      <a:srgbClr val="000000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</p:sp>
            </p:grpSp>
          </p:grpSp>
        </p:grpSp>
        <p:grpSp>
          <p:nvGrpSpPr>
            <p:cNvPr id="23" name="Group 23"/>
            <p:cNvGrpSpPr/>
            <p:nvPr/>
          </p:nvGrpSpPr>
          <p:grpSpPr>
            <a:xfrm>
              <a:off x="10318077" y="4468708"/>
              <a:ext cx="1767228" cy="1244236"/>
              <a:chOff x="292100" y="300236"/>
              <a:chExt cx="11684000" cy="6246614"/>
            </a:xfrm>
          </p:grpSpPr>
          <p:sp>
            <p:nvSpPr>
              <p:cNvPr id="24" name="AutoShape 24"/>
              <p:cNvSpPr/>
              <p:nvPr/>
            </p:nvSpPr>
            <p:spPr>
              <a:xfrm>
                <a:off x="292100" y="300236"/>
                <a:ext cx="11684000" cy="6246614"/>
              </a:xfrm>
              <a:prstGeom prst="roundRect">
                <a:avLst>
                  <a:gd name="adj" fmla="val 0"/>
                </a:avLst>
              </a:prstGeom>
              <a:solidFill>
                <a:srgbClr val="FFCE8E">
                  <a:alpha val="100000"/>
                  <a:lumMod val="20000"/>
                  <a:lumOff val="8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/>
            </p:nvSpPr>
            <p:spPr>
              <a:xfrm>
                <a:off x="292100" y="1086232"/>
                <a:ext cx="11684000" cy="0"/>
              </a:xfrm>
              <a:prstGeom prst="line">
                <a:avLst/>
              </a:prstGeom>
              <a:ln w="1905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2">
              <a:alphaModFix/>
            </a:blip>
            <a:srcRect l="11376" t="27058" r="80921"/>
            <a:stretch>
              <a:fillRect/>
            </a:stretch>
          </p:blipFill>
          <p:spPr>
            <a:xfrm>
              <a:off x="10694264" y="1507325"/>
              <a:ext cx="969618" cy="249148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grpSp>
          <p:nvGrpSpPr>
            <p:cNvPr id="27" name="Group 27"/>
            <p:cNvGrpSpPr/>
            <p:nvPr/>
          </p:nvGrpSpPr>
          <p:grpSpPr>
            <a:xfrm>
              <a:off x="465371" y="1979256"/>
              <a:ext cx="1520470" cy="1561305"/>
              <a:chOff x="542633" y="1979256"/>
              <a:chExt cx="1520470" cy="1561305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542633" y="1979256"/>
                <a:ext cx="1520470" cy="1561305"/>
                <a:chOff x="292100" y="300236"/>
                <a:chExt cx="11684000" cy="6246614"/>
              </a:xfrm>
            </p:grpSpPr>
            <p:sp>
              <p:nvSpPr>
                <p:cNvPr id="29" name="AutoShape 29"/>
                <p:cNvSpPr/>
                <p:nvPr/>
              </p:nvSpPr>
              <p:spPr>
                <a:xfrm>
                  <a:off x="292100" y="300236"/>
                  <a:ext cx="11684000" cy="6246614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CE8E">
                    <a:alpha val="100000"/>
                    <a:lumMod val="20000"/>
                    <a:lumOff val="80000"/>
                  </a:srgbClr>
                </a:solidFill>
                <a:ln w="22225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30" name="AutoShape 30"/>
                <p:cNvSpPr/>
                <p:nvPr/>
              </p:nvSpPr>
              <p:spPr>
                <a:xfrm>
                  <a:off x="292100" y="1086232"/>
                  <a:ext cx="11684000" cy="0"/>
                </a:xfrm>
                <a:prstGeom prst="line">
                  <a:avLst/>
                </a:prstGeom>
                <a:ln w="19050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31" name="AutoShape 31"/>
              <p:cNvSpPr/>
              <p:nvPr/>
            </p:nvSpPr>
            <p:spPr>
              <a:xfrm>
                <a:off x="673100" y="2416097"/>
                <a:ext cx="1200823" cy="832964"/>
              </a:xfrm>
              <a:prstGeom prst="rect">
                <a:avLst/>
              </a:prstGeom>
              <a:solidFill>
                <a:srgbClr val="EAC0B8">
                  <a:alpha val="100000"/>
                  <a:lumMod val="90000"/>
                </a:srgbClr>
              </a:solidFill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1022377" y="2576339"/>
                <a:ext cx="502267" cy="508355"/>
                <a:chOff x="736962" y="2324004"/>
                <a:chExt cx="1010552" cy="1022801"/>
              </a:xfrm>
            </p:grpSpPr>
            <p:sp>
              <p:nvSpPr>
                <p:cNvPr id="33" name="AutoShape 33"/>
                <p:cNvSpPr/>
                <p:nvPr/>
              </p:nvSpPr>
              <p:spPr>
                <a:xfrm>
                  <a:off x="1128932" y="2630232"/>
                  <a:ext cx="373600" cy="4225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69">
                      <a:moveTo>
                        <a:pt x="61" y="35"/>
                      </a:moveTo>
                      <a:lnTo>
                        <a:pt x="29" y="52"/>
                      </a:lnTo>
                      <a:lnTo>
                        <a:pt x="0" y="69"/>
                      </a:lnTo>
                      <a:lnTo>
                        <a:pt x="0" y="35"/>
                      </a:lnTo>
                      <a:lnTo>
                        <a:pt x="0" y="0"/>
                      </a:lnTo>
                      <a:lnTo>
                        <a:pt x="29" y="17"/>
                      </a:lnTo>
                      <a:lnTo>
                        <a:pt x="61" y="35"/>
                      </a:lnTo>
                      <a:close/>
                    </a:path>
                  </a:pathLst>
                </a:custGeom>
                <a:solidFill>
                  <a:srgbClr val="FFCE8E">
                    <a:alpha val="100000"/>
                    <a:lumMod val="50000"/>
                  </a:srgbClr>
                </a:solidFill>
                <a:ln w="12700">
                  <a:solidFill>
                    <a:srgbClr val="000000">
                      <a:alpha val="100000"/>
                    </a:srgbClr>
                  </a:solidFill>
                  <a:headEnd type="none"/>
                  <a:tailEnd type="none"/>
                </a:ln>
              </p:spPr>
            </p:sp>
            <p:sp>
              <p:nvSpPr>
                <p:cNvPr id="34" name="AutoShape 34"/>
                <p:cNvSpPr/>
                <p:nvPr/>
              </p:nvSpPr>
              <p:spPr>
                <a:xfrm>
                  <a:off x="736962" y="2324004"/>
                  <a:ext cx="1010552" cy="1022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" h="107">
                      <a:moveTo>
                        <a:pt x="28" y="11"/>
                      </a:moveTo>
                      <a:cubicBezTo>
                        <a:pt x="35" y="7"/>
                        <a:pt x="44" y="4"/>
                        <a:pt x="53" y="4"/>
                      </a:cubicBezTo>
                      <a:cubicBezTo>
                        <a:pt x="66" y="4"/>
                        <a:pt x="79" y="10"/>
                        <a:pt x="88" y="19"/>
                      </a:cubicBezTo>
                      <a:cubicBezTo>
                        <a:pt x="97" y="28"/>
                        <a:pt x="102" y="40"/>
                        <a:pt x="102" y="53"/>
                      </a:cubicBezTo>
                      <a:cubicBezTo>
                        <a:pt x="102" y="67"/>
                        <a:pt x="97" y="79"/>
                        <a:pt x="88" y="88"/>
                      </a:cubicBezTo>
                      <a:cubicBezTo>
                        <a:pt x="79" y="97"/>
                        <a:pt x="66" y="103"/>
                        <a:pt x="53" y="103"/>
                      </a:cubicBezTo>
                      <a:cubicBezTo>
                        <a:pt x="39" y="103"/>
                        <a:pt x="27" y="97"/>
                        <a:pt x="18" y="88"/>
                      </a:cubicBezTo>
                      <a:cubicBezTo>
                        <a:pt x="9" y="79"/>
                        <a:pt x="4" y="67"/>
                        <a:pt x="4" y="53"/>
                      </a:cubicBezTo>
                      <a:cubicBezTo>
                        <a:pt x="4" y="42"/>
                        <a:pt x="8" y="31"/>
                        <a:pt x="14" y="23"/>
                      </a:cubicBezTo>
                      <a:cubicBezTo>
                        <a:pt x="15" y="22"/>
                        <a:pt x="15" y="21"/>
                        <a:pt x="14" y="20"/>
                      </a:cubicBezTo>
                      <a:cubicBezTo>
                        <a:pt x="13" y="20"/>
                        <a:pt x="12" y="20"/>
                        <a:pt x="11" y="21"/>
                      </a:cubicBezTo>
                      <a:cubicBezTo>
                        <a:pt x="4" y="30"/>
                        <a:pt x="0" y="41"/>
                        <a:pt x="0" y="53"/>
                      </a:cubicBezTo>
                      <a:cubicBezTo>
                        <a:pt x="0" y="83"/>
                        <a:pt x="24" y="107"/>
                        <a:pt x="53" y="107"/>
                      </a:cubicBezTo>
                      <a:cubicBezTo>
                        <a:pt x="82" y="107"/>
                        <a:pt x="106" y="83"/>
                        <a:pt x="106" y="53"/>
                      </a:cubicBezTo>
                      <a:cubicBezTo>
                        <a:pt x="106" y="24"/>
                        <a:pt x="82" y="0"/>
                        <a:pt x="53" y="0"/>
                      </a:cubicBezTo>
                      <a:cubicBezTo>
                        <a:pt x="43" y="0"/>
                        <a:pt x="34" y="3"/>
                        <a:pt x="26" y="8"/>
                      </a:cubicBezTo>
                      <a:cubicBezTo>
                        <a:pt x="25" y="9"/>
                        <a:pt x="24" y="10"/>
                        <a:pt x="25" y="11"/>
                      </a:cubicBezTo>
                      <a:cubicBezTo>
                        <a:pt x="25" y="12"/>
                        <a:pt x="27" y="12"/>
                        <a:pt x="28" y="11"/>
                      </a:cubicBez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headEnd type="none"/>
                  <a:tailEnd type="none"/>
                </a:ln>
              </p:spPr>
            </p:sp>
          </p:grpSp>
        </p:grpSp>
        <p:grpSp>
          <p:nvGrpSpPr>
            <p:cNvPr id="35" name="Group 35"/>
            <p:cNvGrpSpPr/>
            <p:nvPr/>
          </p:nvGrpSpPr>
          <p:grpSpPr>
            <a:xfrm>
              <a:off x="8133" y="3996743"/>
              <a:ext cx="1996757" cy="1155092"/>
              <a:chOff x="542633" y="3996743"/>
              <a:chExt cx="2060867" cy="1155092"/>
            </a:xfrm>
          </p:grpSpPr>
          <p:grpSp>
            <p:nvGrpSpPr>
              <p:cNvPr id="36" name="Group 36"/>
              <p:cNvGrpSpPr/>
              <p:nvPr/>
            </p:nvGrpSpPr>
            <p:grpSpPr>
              <a:xfrm>
                <a:off x="542633" y="3996743"/>
                <a:ext cx="2060867" cy="1155092"/>
                <a:chOff x="292100" y="300236"/>
                <a:chExt cx="11684000" cy="6246614"/>
              </a:xfrm>
            </p:grpSpPr>
            <p:sp>
              <p:nvSpPr>
                <p:cNvPr id="37" name="AutoShape 37"/>
                <p:cNvSpPr/>
                <p:nvPr/>
              </p:nvSpPr>
              <p:spPr>
                <a:xfrm>
                  <a:off x="292100" y="300236"/>
                  <a:ext cx="11684000" cy="6246614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CE8E">
                    <a:alpha val="100000"/>
                    <a:lumMod val="20000"/>
                    <a:lumOff val="80000"/>
                  </a:srgbClr>
                </a:solidFill>
                <a:ln w="22225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38" name="AutoShape 38"/>
                <p:cNvSpPr/>
                <p:nvPr/>
              </p:nvSpPr>
              <p:spPr>
                <a:xfrm>
                  <a:off x="292100" y="1086232"/>
                  <a:ext cx="11684000" cy="0"/>
                </a:xfrm>
                <a:prstGeom prst="line">
                  <a:avLst/>
                </a:prstGeom>
                <a:ln w="19050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39" name="AutoShape 39"/>
              <p:cNvSpPr/>
              <p:nvPr/>
            </p:nvSpPr>
            <p:spPr>
              <a:xfrm>
                <a:off x="933612" y="4382540"/>
                <a:ext cx="1164477" cy="485454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58">
                    <a:moveTo>
                      <a:pt x="372" y="69"/>
                    </a:moveTo>
                    <a:cubicBezTo>
                      <a:pt x="334" y="48"/>
                      <a:pt x="295" y="26"/>
                      <a:pt x="257" y="5"/>
                    </a:cubicBezTo>
                    <a:cubicBezTo>
                      <a:pt x="248" y="0"/>
                      <a:pt x="242" y="3"/>
                      <a:pt x="242" y="14"/>
                    </a:cubicBezTo>
                    <a:cubicBezTo>
                      <a:pt x="242" y="21"/>
                      <a:pt x="242" y="36"/>
                      <a:pt x="242" y="53"/>
                    </a:cubicBezTo>
                    <a:cubicBezTo>
                      <a:pt x="210" y="53"/>
                      <a:pt x="27" y="53"/>
                      <a:pt x="12" y="53"/>
                    </a:cubicBezTo>
                    <a:cubicBezTo>
                      <a:pt x="4" y="53"/>
                      <a:pt x="0" y="57"/>
                      <a:pt x="0" y="65"/>
                    </a:cubicBezTo>
                    <a:cubicBezTo>
                      <a:pt x="0" y="74"/>
                      <a:pt x="0" y="84"/>
                      <a:pt x="0" y="93"/>
                    </a:cubicBezTo>
                    <a:cubicBezTo>
                      <a:pt x="0" y="101"/>
                      <a:pt x="4" y="104"/>
                      <a:pt x="11" y="104"/>
                    </a:cubicBezTo>
                    <a:cubicBezTo>
                      <a:pt x="23" y="104"/>
                      <a:pt x="209" y="104"/>
                      <a:pt x="242" y="104"/>
                    </a:cubicBezTo>
                    <a:cubicBezTo>
                      <a:pt x="242" y="121"/>
                      <a:pt x="242" y="135"/>
                      <a:pt x="242" y="142"/>
                    </a:cubicBezTo>
                    <a:cubicBezTo>
                      <a:pt x="242" y="154"/>
                      <a:pt x="249" y="158"/>
                      <a:pt x="259" y="152"/>
                    </a:cubicBezTo>
                    <a:cubicBezTo>
                      <a:pt x="297" y="131"/>
                      <a:pt x="334" y="110"/>
                      <a:pt x="372" y="89"/>
                    </a:cubicBezTo>
                    <a:cubicBezTo>
                      <a:pt x="376" y="87"/>
                      <a:pt x="379" y="84"/>
                      <a:pt x="379" y="79"/>
                    </a:cubicBezTo>
                    <a:cubicBezTo>
                      <a:pt x="379" y="74"/>
                      <a:pt x="376" y="71"/>
                      <a:pt x="372" y="69"/>
                    </a:cubicBezTo>
                    <a:close/>
                  </a:path>
                </a:pathLst>
              </a:custGeom>
              <a:solidFill>
                <a:srgbClr val="EAC0B8">
                  <a:alpha val="100000"/>
                  <a:lumMod val="90000"/>
                </a:srgbClr>
              </a:solidFill>
              <a:ln w="25400">
                <a:solidFill>
                  <a:srgbClr val="000000">
                    <a:alpha val="100000"/>
                  </a:srgbClr>
                </a:solidFill>
                <a:headEnd type="none"/>
                <a:tailEnd type="none"/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8896155" y="5239183"/>
              <a:ext cx="779815" cy="733635"/>
              <a:chOff x="2728738" y="4612638"/>
              <a:chExt cx="779815" cy="733635"/>
            </a:xfrm>
          </p:grpSpPr>
          <p:sp>
            <p:nvSpPr>
              <p:cNvPr id="41" name="AutoShape 41"/>
              <p:cNvSpPr/>
              <p:nvPr/>
            </p:nvSpPr>
            <p:spPr>
              <a:xfrm>
                <a:off x="2942159" y="4612638"/>
                <a:ext cx="42687" cy="59202"/>
              </a:xfrm>
              <a:custGeom>
                <a:avLst/>
                <a:gdLst/>
                <a:ahLst/>
                <a:cxnLst/>
                <a:rect l="l" t="t" r="r" b="b"/>
                <a:pathLst>
                  <a:path w="42687" h="59202">
                    <a:moveTo>
                      <a:pt x="30052" y="61008"/>
                    </a:moveTo>
                    <a:lnTo>
                      <a:pt x="1135" y="53271"/>
                    </a:lnTo>
                    <a:lnTo>
                      <a:pt x="14913" y="1805"/>
                    </a:lnTo>
                    <a:lnTo>
                      <a:pt x="43822" y="9541"/>
                    </a:lnTo>
                    <a:lnTo>
                      <a:pt x="30052" y="61008"/>
                    </a:lnTo>
                    <a:close/>
                  </a:path>
                </a:pathLst>
              </a:custGeom>
              <a:solidFill>
                <a:srgbClr val="1F293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>
                <a:off x="2942159" y="4612638"/>
                <a:ext cx="42687" cy="59202"/>
              </a:xfrm>
              <a:custGeom>
                <a:avLst/>
                <a:gdLst/>
                <a:ahLst/>
                <a:cxnLst/>
                <a:rect l="l" t="t" r="r" b="b"/>
                <a:pathLst>
                  <a:path w="42687" h="59202">
                    <a:moveTo>
                      <a:pt x="30052" y="61008"/>
                    </a:moveTo>
                    <a:lnTo>
                      <a:pt x="1135" y="53271"/>
                    </a:lnTo>
                    <a:lnTo>
                      <a:pt x="14913" y="1805"/>
                    </a:lnTo>
                    <a:lnTo>
                      <a:pt x="43822" y="9541"/>
                    </a:lnTo>
                    <a:lnTo>
                      <a:pt x="30052" y="61008"/>
                    </a:lnTo>
                    <a:close/>
                  </a:path>
                </a:pathLst>
              </a:custGeom>
              <a:solidFill>
                <a:srgbClr val="1F293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>
                <a:off x="2772240" y="4656222"/>
                <a:ext cx="58860" cy="58851"/>
              </a:xfrm>
              <a:custGeom>
                <a:avLst/>
                <a:gdLst/>
                <a:ahLst/>
                <a:cxnLst/>
                <a:rect l="l" t="t" r="r" b="b"/>
                <a:pathLst>
                  <a:path w="58860" h="58851">
                    <a:moveTo>
                      <a:pt x="38784" y="60674"/>
                    </a:moveTo>
                    <a:lnTo>
                      <a:pt x="1072" y="22995"/>
                    </a:lnTo>
                    <a:lnTo>
                      <a:pt x="22228" y="1822"/>
                    </a:lnTo>
                    <a:lnTo>
                      <a:pt x="59932" y="39501"/>
                    </a:lnTo>
                    <a:lnTo>
                      <a:pt x="38784" y="60674"/>
                    </a:lnTo>
                    <a:close/>
                  </a:path>
                </a:pathLst>
              </a:custGeom>
              <a:solidFill>
                <a:srgbClr val="1F293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4" name="AutoShape 44"/>
              <p:cNvSpPr/>
              <p:nvPr/>
            </p:nvSpPr>
            <p:spPr>
              <a:xfrm>
                <a:off x="2728738" y="4826141"/>
                <a:ext cx="59234" cy="42711"/>
              </a:xfrm>
              <a:custGeom>
                <a:avLst/>
                <a:gdLst/>
                <a:ahLst/>
                <a:cxnLst/>
                <a:rect l="l" t="t" r="r" b="b"/>
                <a:pathLst>
                  <a:path w="59234" h="42711">
                    <a:moveTo>
                      <a:pt x="8799" y="44597"/>
                    </a:moveTo>
                    <a:lnTo>
                      <a:pt x="1055" y="15688"/>
                    </a:lnTo>
                    <a:lnTo>
                      <a:pt x="52537" y="1885"/>
                    </a:lnTo>
                    <a:lnTo>
                      <a:pt x="60290" y="30786"/>
                    </a:lnTo>
                    <a:lnTo>
                      <a:pt x="8799" y="44597"/>
                    </a:lnTo>
                    <a:close/>
                  </a:path>
                </a:pathLst>
              </a:custGeom>
              <a:solidFill>
                <a:srgbClr val="1F293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5" name="AutoShape 45"/>
              <p:cNvSpPr/>
              <p:nvPr/>
            </p:nvSpPr>
            <p:spPr>
              <a:xfrm>
                <a:off x="2855530" y="4936312"/>
                <a:ext cx="42679" cy="59226"/>
              </a:xfrm>
              <a:custGeom>
                <a:avLst/>
                <a:gdLst/>
                <a:ahLst/>
                <a:cxnLst/>
                <a:rect l="l" t="t" r="r" b="b"/>
                <a:pathLst>
                  <a:path w="42679" h="59226">
                    <a:moveTo>
                      <a:pt x="30010" y="61158"/>
                    </a:moveTo>
                    <a:lnTo>
                      <a:pt x="1101" y="53429"/>
                    </a:lnTo>
                    <a:lnTo>
                      <a:pt x="14863" y="1931"/>
                    </a:lnTo>
                    <a:lnTo>
                      <a:pt x="43780" y="9659"/>
                    </a:lnTo>
                    <a:lnTo>
                      <a:pt x="30010" y="61158"/>
                    </a:lnTo>
                    <a:close/>
                  </a:path>
                </a:pathLst>
              </a:custGeom>
              <a:solidFill>
                <a:srgbClr val="1F293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6" name="AutoShape 46"/>
              <p:cNvSpPr/>
              <p:nvPr/>
            </p:nvSpPr>
            <p:spPr>
              <a:xfrm>
                <a:off x="3009244" y="4893112"/>
                <a:ext cx="58868" cy="58835"/>
              </a:xfrm>
              <a:custGeom>
                <a:avLst/>
                <a:gdLst/>
                <a:ahLst/>
                <a:cxnLst/>
                <a:rect l="l" t="t" r="r" b="b"/>
                <a:pathLst>
                  <a:path w="58868" h="58835">
                    <a:moveTo>
                      <a:pt x="38876" y="60750"/>
                    </a:moveTo>
                    <a:lnTo>
                      <a:pt x="1164" y="23095"/>
                    </a:lnTo>
                    <a:lnTo>
                      <a:pt x="22320" y="1914"/>
                    </a:lnTo>
                    <a:lnTo>
                      <a:pt x="60032" y="39569"/>
                    </a:lnTo>
                    <a:lnTo>
                      <a:pt x="38876" y="60750"/>
                    </a:lnTo>
                    <a:close/>
                  </a:path>
                </a:pathLst>
              </a:custGeom>
              <a:solidFill>
                <a:srgbClr val="1F293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7" name="AutoShape 47"/>
              <p:cNvSpPr/>
              <p:nvPr/>
            </p:nvSpPr>
            <p:spPr>
              <a:xfrm>
                <a:off x="3052363" y="4739317"/>
                <a:ext cx="59258" cy="42744"/>
              </a:xfrm>
              <a:custGeom>
                <a:avLst/>
                <a:gdLst/>
                <a:ahLst/>
                <a:cxnLst/>
                <a:rect l="l" t="t" r="r" b="b"/>
                <a:pathLst>
                  <a:path w="59258" h="42744">
                    <a:moveTo>
                      <a:pt x="8949" y="44595"/>
                    </a:moveTo>
                    <a:lnTo>
                      <a:pt x="1181" y="15695"/>
                    </a:lnTo>
                    <a:lnTo>
                      <a:pt x="52679" y="1851"/>
                    </a:lnTo>
                    <a:lnTo>
                      <a:pt x="60440" y="30760"/>
                    </a:lnTo>
                    <a:lnTo>
                      <a:pt x="8949" y="44595"/>
                    </a:lnTo>
                    <a:close/>
                  </a:path>
                </a:pathLst>
              </a:custGeom>
              <a:solidFill>
                <a:srgbClr val="1F293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2953234" y="4840693"/>
                <a:ext cx="555319" cy="505580"/>
              </a:xfrm>
              <a:custGeom>
                <a:avLst/>
                <a:gdLst/>
                <a:ahLst/>
                <a:cxnLst/>
                <a:rect l="l" t="t" r="r" b="b"/>
                <a:pathLst>
                  <a:path w="555319" h="505580">
                    <a:moveTo>
                      <a:pt x="556558" y="97795"/>
                    </a:moveTo>
                    <a:lnTo>
                      <a:pt x="278902" y="49888"/>
                    </a:lnTo>
                    <a:lnTo>
                      <a:pt x="1239" y="1981"/>
                    </a:lnTo>
                    <a:lnTo>
                      <a:pt x="125702" y="254767"/>
                    </a:lnTo>
                    <a:lnTo>
                      <a:pt x="250165" y="507561"/>
                    </a:lnTo>
                    <a:lnTo>
                      <a:pt x="317160" y="312698"/>
                    </a:lnTo>
                    <a:lnTo>
                      <a:pt x="479212" y="433880"/>
                    </a:lnTo>
                    <a:lnTo>
                      <a:pt x="550630" y="338342"/>
                    </a:lnTo>
                    <a:lnTo>
                      <a:pt x="388585" y="217177"/>
                    </a:lnTo>
                    <a:lnTo>
                      <a:pt x="556558" y="97795"/>
                    </a:lnTo>
                    <a:close/>
                  </a:path>
                </a:pathLst>
              </a:custGeom>
              <a:solidFill>
                <a:srgbClr val="EAC0B8">
                  <a:alpha val="100000"/>
                  <a:lumMod val="90000"/>
                </a:srgbClr>
              </a:solidFill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sp>
          <p:nvSpPr>
            <p:cNvPr id="49" name="AutoShape 49"/>
            <p:cNvSpPr/>
            <p:nvPr/>
          </p:nvSpPr>
          <p:spPr>
            <a:xfrm>
              <a:off x="2297504" y="5511441"/>
              <a:ext cx="1461325" cy="416909"/>
            </a:xfrm>
            <a:custGeom>
              <a:avLst/>
              <a:gdLst/>
              <a:ahLst/>
              <a:cxnLst/>
              <a:rect l="l" t="t" r="r" b="b"/>
              <a:pathLst>
                <a:path w="1461325" h="416909">
                  <a:moveTo>
                    <a:pt x="1252918" y="0"/>
                  </a:moveTo>
                  <a:lnTo>
                    <a:pt x="1461325" y="208502"/>
                  </a:lnTo>
                  <a:lnTo>
                    <a:pt x="1252918" y="416909"/>
                  </a:lnTo>
                  <a:lnTo>
                    <a:pt x="1196530" y="360521"/>
                  </a:lnTo>
                  <a:lnTo>
                    <a:pt x="1348549" y="208502"/>
                  </a:lnTo>
                  <a:lnTo>
                    <a:pt x="1196530" y="56388"/>
                  </a:lnTo>
                  <a:close/>
                  <a:moveTo>
                    <a:pt x="1053465" y="0"/>
                  </a:moveTo>
                  <a:lnTo>
                    <a:pt x="1261967" y="208502"/>
                  </a:lnTo>
                  <a:lnTo>
                    <a:pt x="1053465" y="416909"/>
                  </a:lnTo>
                  <a:lnTo>
                    <a:pt x="997077" y="360521"/>
                  </a:lnTo>
                  <a:lnTo>
                    <a:pt x="1149096" y="208502"/>
                  </a:lnTo>
                  <a:lnTo>
                    <a:pt x="997077" y="56388"/>
                  </a:lnTo>
                  <a:close/>
                  <a:moveTo>
                    <a:pt x="854106" y="0"/>
                  </a:moveTo>
                  <a:lnTo>
                    <a:pt x="1062513" y="208502"/>
                  </a:lnTo>
                  <a:lnTo>
                    <a:pt x="854106" y="416909"/>
                  </a:lnTo>
                  <a:lnTo>
                    <a:pt x="797718" y="360521"/>
                  </a:lnTo>
                  <a:lnTo>
                    <a:pt x="949737" y="208502"/>
                  </a:lnTo>
                  <a:lnTo>
                    <a:pt x="797718" y="56388"/>
                  </a:lnTo>
                  <a:close/>
                  <a:moveTo>
                    <a:pt x="654653" y="0"/>
                  </a:moveTo>
                  <a:lnTo>
                    <a:pt x="863060" y="208502"/>
                  </a:lnTo>
                  <a:lnTo>
                    <a:pt x="654653" y="416909"/>
                  </a:lnTo>
                  <a:lnTo>
                    <a:pt x="598265" y="360521"/>
                  </a:lnTo>
                  <a:lnTo>
                    <a:pt x="750284" y="208502"/>
                  </a:lnTo>
                  <a:lnTo>
                    <a:pt x="598265" y="56388"/>
                  </a:lnTo>
                  <a:close/>
                  <a:moveTo>
                    <a:pt x="455294" y="0"/>
                  </a:moveTo>
                  <a:lnTo>
                    <a:pt x="663701" y="208502"/>
                  </a:lnTo>
                  <a:lnTo>
                    <a:pt x="455294" y="416909"/>
                  </a:lnTo>
                  <a:lnTo>
                    <a:pt x="398811" y="360521"/>
                  </a:lnTo>
                  <a:lnTo>
                    <a:pt x="550830" y="208502"/>
                  </a:lnTo>
                  <a:lnTo>
                    <a:pt x="398811" y="56388"/>
                  </a:lnTo>
                  <a:close/>
                  <a:moveTo>
                    <a:pt x="255841" y="0"/>
                  </a:moveTo>
                  <a:lnTo>
                    <a:pt x="464248" y="208502"/>
                  </a:lnTo>
                  <a:lnTo>
                    <a:pt x="255841" y="416909"/>
                  </a:lnTo>
                  <a:lnTo>
                    <a:pt x="199453" y="360521"/>
                  </a:lnTo>
                  <a:lnTo>
                    <a:pt x="351472" y="208502"/>
                  </a:lnTo>
                  <a:lnTo>
                    <a:pt x="199453" y="56388"/>
                  </a:lnTo>
                  <a:close/>
                  <a:moveTo>
                    <a:pt x="56388" y="0"/>
                  </a:moveTo>
                  <a:lnTo>
                    <a:pt x="264795" y="208502"/>
                  </a:lnTo>
                  <a:lnTo>
                    <a:pt x="56388" y="416909"/>
                  </a:lnTo>
                  <a:lnTo>
                    <a:pt x="0" y="360521"/>
                  </a:lnTo>
                  <a:lnTo>
                    <a:pt x="152019" y="208502"/>
                  </a:lnTo>
                  <a:lnTo>
                    <a:pt x="0" y="56388"/>
                  </a:lnTo>
                  <a:close/>
                </a:path>
              </a:pathLst>
            </a:custGeom>
            <a:solidFill>
              <a:srgbClr val="EAC0B8">
                <a:alpha val="10000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10694638" y="5481925"/>
              <a:ext cx="1056860" cy="61507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7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10506021" y="5324754"/>
              <a:ext cx="1434094" cy="61507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7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10668181" y="4825372"/>
              <a:ext cx="267302" cy="269529"/>
            </a:xfrm>
            <a:prstGeom prst="ellipse">
              <a:avLst/>
            </a:prstGeom>
            <a:solidFill>
              <a:srgbClr val="947D65">
                <a:alpha val="100000"/>
                <a:lumMod val="40000"/>
                <a:lumOff val="6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1110343" y="4825372"/>
              <a:ext cx="266188" cy="269529"/>
            </a:xfrm>
            <a:prstGeom prst="ellipse">
              <a:avLst/>
            </a:prstGeom>
            <a:solidFill>
              <a:srgbClr val="FFCE8E">
                <a:alpha val="100000"/>
                <a:lumMod val="20000"/>
                <a:lumOff val="8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1530230" y="4825372"/>
              <a:ext cx="267302" cy="269529"/>
            </a:xfrm>
            <a:prstGeom prst="ellipse">
              <a:avLst/>
            </a:prstGeom>
            <a:solidFill>
              <a:srgbClr val="EAC0B8">
                <a:alpha val="10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</p:grpSp>
      <p:cxnSp>
        <p:nvCxnSpPr>
          <p:cNvPr id="55" name="Connector 55"/>
          <p:cNvCxnSpPr/>
          <p:nvPr/>
        </p:nvCxnSpPr>
        <p:spPr>
          <a:xfrm>
            <a:off x="3758829" y="4271736"/>
            <a:ext cx="4602497" cy="0"/>
          </a:xfrm>
          <a:prstGeom prst="line">
            <a:avLst/>
          </a:prstGeom>
          <a:ln w="12700">
            <a:solidFill>
              <a:srgbClr val="EAC0B8">
                <a:alpha val="100000"/>
                <a:lumMod val="75000"/>
              </a:srgbClr>
            </a:soli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947D65">
            <a:alpha val="100000"/>
            <a:lumMod val="40000"/>
            <a:lumOff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100" y="300236"/>
            <a:ext cx="11684000" cy="6246614"/>
            <a:chOff x="292100" y="300236"/>
            <a:chExt cx="11684000" cy="6246614"/>
          </a:xfrm>
        </p:grpSpPr>
        <p:sp>
          <p:nvSpPr>
            <p:cNvPr id="3" name="AutoShape 3"/>
            <p:cNvSpPr/>
            <p:nvPr/>
          </p:nvSpPr>
          <p:spPr>
            <a:xfrm>
              <a:off x="292100" y="300236"/>
              <a:ext cx="11684000" cy="6246614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  <a:lumMod val="20000"/>
                <a:lumOff val="8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292100" y="1086232"/>
              <a:ext cx="11684000" cy="0"/>
            </a:xfrm>
            <a:prstGeom prst="line">
              <a:avLst/>
            </a:prstGeom>
            <a:ln w="2857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0630105" y="686036"/>
            <a:ext cx="888795" cy="164628"/>
            <a:chOff x="10630105" y="635472"/>
            <a:chExt cx="888795" cy="164628"/>
          </a:xfrm>
        </p:grpSpPr>
        <p:sp>
          <p:nvSpPr>
            <p:cNvPr id="6" name="AutoShape 6"/>
            <p:cNvSpPr/>
            <p:nvPr/>
          </p:nvSpPr>
          <p:spPr>
            <a:xfrm flipH="1">
              <a:off x="11007439" y="641350"/>
              <a:ext cx="163077" cy="158750"/>
            </a:xfrm>
            <a:custGeom>
              <a:avLst/>
              <a:gdLst/>
              <a:ahLst/>
              <a:cxnLst/>
              <a:rect l="l" t="t" r="r" b="b"/>
              <a:pathLst>
                <a:path w="220906" h="221267">
                  <a:moveTo>
                    <a:pt x="0" y="0"/>
                  </a:moveTo>
                  <a:lnTo>
                    <a:pt x="220906" y="0"/>
                  </a:lnTo>
                  <a:lnTo>
                    <a:pt x="220906" y="221267"/>
                  </a:lnTo>
                  <a:lnTo>
                    <a:pt x="0" y="221267"/>
                  </a:lnTo>
                  <a:close/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10630105" y="721533"/>
              <a:ext cx="183063" cy="48442"/>
            </a:xfrm>
            <a:custGeom>
              <a:avLst/>
              <a:gdLst/>
              <a:ahLst/>
              <a:cxnLst/>
              <a:rect l="l" t="t" r="r" b="b"/>
              <a:pathLst>
                <a:path w="247978" h="36095">
                  <a:moveTo>
                    <a:pt x="0" y="0"/>
                  </a:moveTo>
                  <a:lnTo>
                    <a:pt x="247978" y="0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1359526" y="635472"/>
              <a:ext cx="159374" cy="164345"/>
              <a:chOff x="11359526" y="635472"/>
              <a:chExt cx="159374" cy="164345"/>
            </a:xfrm>
          </p:grpSpPr>
          <p:sp>
            <p:nvSpPr>
              <p:cNvPr id="9" name="AutoShape 9"/>
              <p:cNvSpPr/>
              <p:nvPr/>
            </p:nvSpPr>
            <p:spPr>
              <a:xfrm flipH="1">
                <a:off x="11364083" y="635472"/>
                <a:ext cx="154817" cy="164345"/>
              </a:xfrm>
              <a:custGeom>
                <a:avLst/>
                <a:gdLst/>
                <a:ahLst/>
                <a:cxnLst/>
                <a:rect l="l" t="t" r="r" b="b"/>
                <a:pathLst>
                  <a:path w="209716" h="209716">
                    <a:moveTo>
                      <a:pt x="209717" y="0"/>
                    </a:moveTo>
                    <a:lnTo>
                      <a:pt x="0" y="209717"/>
                    </a:lnTo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1359526" y="635472"/>
                <a:ext cx="154817" cy="164345"/>
              </a:xfrm>
              <a:custGeom>
                <a:avLst/>
                <a:gdLst/>
                <a:ahLst/>
                <a:cxnLst/>
                <a:rect l="l" t="t" r="r" b="b"/>
                <a:pathLst>
                  <a:path w="209716" h="209716">
                    <a:moveTo>
                      <a:pt x="209717" y="0"/>
                    </a:moveTo>
                    <a:lnTo>
                      <a:pt x="0" y="209717"/>
                    </a:lnTo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947D65">
            <a:alpha val="100000"/>
            <a:lumMod val="40000"/>
            <a:lumOff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0400" y="575871"/>
            <a:ext cx="10858500" cy="5518150"/>
            <a:chOff x="292100" y="300236"/>
            <a:chExt cx="11684000" cy="6246614"/>
          </a:xfrm>
        </p:grpSpPr>
        <p:grpSp>
          <p:nvGrpSpPr>
            <p:cNvPr id="3" name="Group 3"/>
            <p:cNvGrpSpPr/>
            <p:nvPr/>
          </p:nvGrpSpPr>
          <p:grpSpPr>
            <a:xfrm>
              <a:off x="292100" y="300236"/>
              <a:ext cx="11684000" cy="6246614"/>
              <a:chOff x="292100" y="300236"/>
              <a:chExt cx="11684000" cy="6246614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292100" y="300236"/>
                <a:ext cx="11684000" cy="6246614"/>
              </a:xfrm>
              <a:prstGeom prst="roundRect">
                <a:avLst>
                  <a:gd name="adj" fmla="val 0"/>
                </a:avLst>
              </a:prstGeom>
              <a:solidFill>
                <a:srgbClr val="FFCE8E">
                  <a:alpha val="100000"/>
                  <a:lumMod val="20000"/>
                  <a:lumOff val="8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292100" y="1086232"/>
                <a:ext cx="11684000" cy="0"/>
              </a:xfrm>
              <a:prstGeom prst="line">
                <a:avLst/>
              </a:prstGeom>
              <a:ln w="2857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10601077" y="642494"/>
              <a:ext cx="888795" cy="164628"/>
              <a:chOff x="10630105" y="635472"/>
              <a:chExt cx="888795" cy="164628"/>
            </a:xfrm>
          </p:grpSpPr>
          <p:sp>
            <p:nvSpPr>
              <p:cNvPr id="7" name="AutoShape 7"/>
              <p:cNvSpPr/>
              <p:nvPr/>
            </p:nvSpPr>
            <p:spPr>
              <a:xfrm flipH="1">
                <a:off x="11007439" y="641350"/>
                <a:ext cx="163077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20906" h="221267">
                    <a:moveTo>
                      <a:pt x="0" y="0"/>
                    </a:moveTo>
                    <a:lnTo>
                      <a:pt x="220906" y="0"/>
                    </a:lnTo>
                    <a:lnTo>
                      <a:pt x="220906" y="221267"/>
                    </a:lnTo>
                    <a:lnTo>
                      <a:pt x="0" y="221267"/>
                    </a:lnTo>
                    <a:close/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 flipH="1">
                <a:off x="10630105" y="721533"/>
                <a:ext cx="183063" cy="48442"/>
              </a:xfrm>
              <a:custGeom>
                <a:avLst/>
                <a:gdLst/>
                <a:ahLst/>
                <a:cxnLst/>
                <a:rect l="l" t="t" r="r" b="b"/>
                <a:pathLst>
                  <a:path w="247978" h="36095">
                    <a:moveTo>
                      <a:pt x="0" y="0"/>
                    </a:moveTo>
                    <a:lnTo>
                      <a:pt x="247978" y="0"/>
                    </a:lnTo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11359526" y="635472"/>
                <a:ext cx="159374" cy="164345"/>
                <a:chOff x="11359526" y="635472"/>
                <a:chExt cx="159374" cy="164345"/>
              </a:xfrm>
            </p:grpSpPr>
            <p:sp>
              <p:nvSpPr>
                <p:cNvPr id="10" name="AutoShape 10"/>
                <p:cNvSpPr/>
                <p:nvPr/>
              </p:nvSpPr>
              <p:spPr>
                <a:xfrm flipH="1">
                  <a:off x="11364083" y="635472"/>
                  <a:ext cx="154817" cy="164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16" h="209716">
                      <a:moveTo>
                        <a:pt x="209717" y="0"/>
                      </a:moveTo>
                      <a:lnTo>
                        <a:pt x="0" y="209717"/>
                      </a:lnTo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AutoShape 11"/>
                <p:cNvSpPr/>
                <p:nvPr/>
              </p:nvSpPr>
              <p:spPr>
                <a:xfrm>
                  <a:off x="11359526" y="635472"/>
                  <a:ext cx="154817" cy="164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16" h="209716">
                      <a:moveTo>
                        <a:pt x="209717" y="0"/>
                      </a:moveTo>
                      <a:lnTo>
                        <a:pt x="0" y="209717"/>
                      </a:lnTo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</p:grpSp>
      </p:grpSp>
      <p:grpSp>
        <p:nvGrpSpPr>
          <p:cNvPr id="12" name="Group 12"/>
          <p:cNvGrpSpPr/>
          <p:nvPr/>
        </p:nvGrpSpPr>
        <p:grpSpPr>
          <a:xfrm>
            <a:off x="2333172" y="4270551"/>
            <a:ext cx="7356928" cy="2161041"/>
            <a:chOff x="292100" y="300236"/>
            <a:chExt cx="11684000" cy="6246614"/>
          </a:xfrm>
        </p:grpSpPr>
        <p:grpSp>
          <p:nvGrpSpPr>
            <p:cNvPr id="13" name="Group 13"/>
            <p:cNvGrpSpPr/>
            <p:nvPr/>
          </p:nvGrpSpPr>
          <p:grpSpPr>
            <a:xfrm>
              <a:off x="292100" y="300236"/>
              <a:ext cx="11684000" cy="6246614"/>
              <a:chOff x="292100" y="300236"/>
              <a:chExt cx="11684000" cy="6246614"/>
            </a:xfrm>
          </p:grpSpPr>
          <p:sp>
            <p:nvSpPr>
              <p:cNvPr id="14" name="AutoShape 14"/>
              <p:cNvSpPr/>
              <p:nvPr/>
            </p:nvSpPr>
            <p:spPr>
              <a:xfrm>
                <a:off x="292100" y="300236"/>
                <a:ext cx="11684000" cy="6246614"/>
              </a:xfrm>
              <a:prstGeom prst="roundRect">
                <a:avLst>
                  <a:gd name="adj" fmla="val 0"/>
                </a:avLst>
              </a:prstGeom>
              <a:solidFill>
                <a:srgbClr val="FFCE8E">
                  <a:alpha val="100000"/>
                  <a:lumMod val="20000"/>
                  <a:lumOff val="8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292100" y="1086232"/>
                <a:ext cx="11684000" cy="0"/>
              </a:xfrm>
              <a:prstGeom prst="line">
                <a:avLst/>
              </a:prstGeom>
              <a:ln w="1905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10601077" y="642494"/>
              <a:ext cx="888795" cy="164628"/>
              <a:chOff x="10630105" y="635472"/>
              <a:chExt cx="888795" cy="164628"/>
            </a:xfrm>
          </p:grpSpPr>
          <p:sp>
            <p:nvSpPr>
              <p:cNvPr id="17" name="AutoShape 17"/>
              <p:cNvSpPr/>
              <p:nvPr/>
            </p:nvSpPr>
            <p:spPr>
              <a:xfrm flipH="1">
                <a:off x="11007439" y="641350"/>
                <a:ext cx="163077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20906" h="221267">
                    <a:moveTo>
                      <a:pt x="0" y="0"/>
                    </a:moveTo>
                    <a:lnTo>
                      <a:pt x="220906" y="0"/>
                    </a:lnTo>
                    <a:lnTo>
                      <a:pt x="220906" y="221267"/>
                    </a:lnTo>
                    <a:lnTo>
                      <a:pt x="0" y="221267"/>
                    </a:lnTo>
                    <a:close/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 flipH="1">
                <a:off x="10630105" y="721533"/>
                <a:ext cx="183063" cy="48442"/>
              </a:xfrm>
              <a:custGeom>
                <a:avLst/>
                <a:gdLst/>
                <a:ahLst/>
                <a:cxnLst/>
                <a:rect l="l" t="t" r="r" b="b"/>
                <a:pathLst>
                  <a:path w="247978" h="36095">
                    <a:moveTo>
                      <a:pt x="0" y="0"/>
                    </a:moveTo>
                    <a:lnTo>
                      <a:pt x="247978" y="0"/>
                    </a:lnTo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1359526" y="635472"/>
                <a:ext cx="159374" cy="164345"/>
                <a:chOff x="11359526" y="635472"/>
                <a:chExt cx="159374" cy="164345"/>
              </a:xfrm>
            </p:grpSpPr>
            <p:sp>
              <p:nvSpPr>
                <p:cNvPr id="20" name="AutoShape 20"/>
                <p:cNvSpPr/>
                <p:nvPr/>
              </p:nvSpPr>
              <p:spPr>
                <a:xfrm flipH="1">
                  <a:off x="11364083" y="635472"/>
                  <a:ext cx="154817" cy="164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16" h="209716">
                      <a:moveTo>
                        <a:pt x="209717" y="0"/>
                      </a:moveTo>
                      <a:lnTo>
                        <a:pt x="0" y="209717"/>
                      </a:lnTo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1" name="AutoShape 21"/>
                <p:cNvSpPr/>
                <p:nvPr/>
              </p:nvSpPr>
              <p:spPr>
                <a:xfrm>
                  <a:off x="11359526" y="635472"/>
                  <a:ext cx="154817" cy="164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16" h="209716">
                      <a:moveTo>
                        <a:pt x="209717" y="0"/>
                      </a:moveTo>
                      <a:lnTo>
                        <a:pt x="0" y="209717"/>
                      </a:lnTo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</p:grpSp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2">
            <a:alphaModFix/>
          </a:blip>
          <a:srcRect l="11376" t="27058" r="80921"/>
          <a:stretch>
            <a:fillRect/>
          </a:stretch>
        </p:blipFill>
        <p:spPr>
          <a:xfrm rot="16200000">
            <a:off x="10487319" y="1030944"/>
            <a:ext cx="969618" cy="2491481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3" name="AutoShape 23"/>
          <p:cNvSpPr/>
          <p:nvPr/>
        </p:nvSpPr>
        <p:spPr>
          <a:xfrm>
            <a:off x="955304" y="2815253"/>
            <a:ext cx="1178295" cy="336162"/>
          </a:xfrm>
          <a:custGeom>
            <a:avLst/>
            <a:gdLst/>
            <a:ahLst/>
            <a:cxnLst/>
            <a:rect l="l" t="t" r="r" b="b"/>
            <a:pathLst>
              <a:path w="1461325" h="416909">
                <a:moveTo>
                  <a:pt x="1252918" y="0"/>
                </a:moveTo>
                <a:lnTo>
                  <a:pt x="1461325" y="208502"/>
                </a:lnTo>
                <a:lnTo>
                  <a:pt x="1252918" y="416909"/>
                </a:lnTo>
                <a:lnTo>
                  <a:pt x="1196530" y="360521"/>
                </a:lnTo>
                <a:lnTo>
                  <a:pt x="1348549" y="208502"/>
                </a:lnTo>
                <a:lnTo>
                  <a:pt x="1196530" y="56388"/>
                </a:lnTo>
                <a:close/>
                <a:moveTo>
                  <a:pt x="1053465" y="0"/>
                </a:moveTo>
                <a:lnTo>
                  <a:pt x="1261967" y="208502"/>
                </a:lnTo>
                <a:lnTo>
                  <a:pt x="1053465" y="416909"/>
                </a:lnTo>
                <a:lnTo>
                  <a:pt x="997077" y="360521"/>
                </a:lnTo>
                <a:lnTo>
                  <a:pt x="1149096" y="208502"/>
                </a:lnTo>
                <a:lnTo>
                  <a:pt x="997077" y="56388"/>
                </a:lnTo>
                <a:close/>
                <a:moveTo>
                  <a:pt x="854106" y="0"/>
                </a:moveTo>
                <a:lnTo>
                  <a:pt x="1062513" y="208502"/>
                </a:lnTo>
                <a:lnTo>
                  <a:pt x="854106" y="416909"/>
                </a:lnTo>
                <a:lnTo>
                  <a:pt x="797718" y="360521"/>
                </a:lnTo>
                <a:lnTo>
                  <a:pt x="949737" y="208502"/>
                </a:lnTo>
                <a:lnTo>
                  <a:pt x="797718" y="56388"/>
                </a:lnTo>
                <a:close/>
                <a:moveTo>
                  <a:pt x="654653" y="0"/>
                </a:moveTo>
                <a:lnTo>
                  <a:pt x="863060" y="208502"/>
                </a:lnTo>
                <a:lnTo>
                  <a:pt x="654653" y="416909"/>
                </a:lnTo>
                <a:lnTo>
                  <a:pt x="598265" y="360521"/>
                </a:lnTo>
                <a:lnTo>
                  <a:pt x="750284" y="208502"/>
                </a:lnTo>
                <a:lnTo>
                  <a:pt x="598265" y="56388"/>
                </a:lnTo>
                <a:close/>
                <a:moveTo>
                  <a:pt x="455294" y="0"/>
                </a:moveTo>
                <a:lnTo>
                  <a:pt x="663701" y="208502"/>
                </a:lnTo>
                <a:lnTo>
                  <a:pt x="455294" y="416909"/>
                </a:lnTo>
                <a:lnTo>
                  <a:pt x="398811" y="360521"/>
                </a:lnTo>
                <a:lnTo>
                  <a:pt x="550830" y="208502"/>
                </a:lnTo>
                <a:lnTo>
                  <a:pt x="398811" y="56388"/>
                </a:lnTo>
                <a:close/>
                <a:moveTo>
                  <a:pt x="255841" y="0"/>
                </a:moveTo>
                <a:lnTo>
                  <a:pt x="464248" y="208502"/>
                </a:lnTo>
                <a:lnTo>
                  <a:pt x="255841" y="416909"/>
                </a:lnTo>
                <a:lnTo>
                  <a:pt x="199453" y="360521"/>
                </a:lnTo>
                <a:lnTo>
                  <a:pt x="351472" y="208502"/>
                </a:lnTo>
                <a:lnTo>
                  <a:pt x="199453" y="56388"/>
                </a:lnTo>
                <a:close/>
                <a:moveTo>
                  <a:pt x="56388" y="0"/>
                </a:moveTo>
                <a:lnTo>
                  <a:pt x="264795" y="208502"/>
                </a:lnTo>
                <a:lnTo>
                  <a:pt x="56388" y="416909"/>
                </a:lnTo>
                <a:lnTo>
                  <a:pt x="0" y="360521"/>
                </a:lnTo>
                <a:lnTo>
                  <a:pt x="152019" y="208502"/>
                </a:lnTo>
                <a:lnTo>
                  <a:pt x="0" y="56388"/>
                </a:lnTo>
                <a:close/>
              </a:path>
            </a:pathLst>
          </a:custGeom>
          <a:solidFill>
            <a:srgbClr val="EAC0B8">
              <a:alpha val="100000"/>
            </a:srgbClr>
          </a:solidFill>
          <a:ln w="9525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10366008" y="5065143"/>
            <a:ext cx="555319" cy="505580"/>
          </a:xfrm>
          <a:custGeom>
            <a:avLst/>
            <a:gdLst/>
            <a:ahLst/>
            <a:cxnLst/>
            <a:rect l="l" t="t" r="r" b="b"/>
            <a:pathLst>
              <a:path w="555319" h="505580">
                <a:moveTo>
                  <a:pt x="556558" y="97795"/>
                </a:moveTo>
                <a:lnTo>
                  <a:pt x="278902" y="49888"/>
                </a:lnTo>
                <a:lnTo>
                  <a:pt x="1239" y="1981"/>
                </a:lnTo>
                <a:lnTo>
                  <a:pt x="125702" y="254767"/>
                </a:lnTo>
                <a:lnTo>
                  <a:pt x="250165" y="507561"/>
                </a:lnTo>
                <a:lnTo>
                  <a:pt x="317160" y="312698"/>
                </a:lnTo>
                <a:lnTo>
                  <a:pt x="479212" y="433880"/>
                </a:lnTo>
                <a:lnTo>
                  <a:pt x="550630" y="338342"/>
                </a:lnTo>
                <a:lnTo>
                  <a:pt x="388585" y="217177"/>
                </a:lnTo>
                <a:lnTo>
                  <a:pt x="556558" y="97795"/>
                </a:lnTo>
                <a:close/>
              </a:path>
            </a:pathLst>
          </a:custGeom>
          <a:solidFill>
            <a:srgbClr val="EAC0B8">
              <a:alpha val="100000"/>
              <a:lumMod val="9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947D65">
            <a:alpha val="100000"/>
            <a:lumMod val="40000"/>
            <a:lumOff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100" y="300236"/>
            <a:ext cx="11684000" cy="6246614"/>
            <a:chOff x="292100" y="300236"/>
            <a:chExt cx="11684000" cy="6246614"/>
          </a:xfrm>
        </p:grpSpPr>
        <p:sp>
          <p:nvSpPr>
            <p:cNvPr id="3" name="AutoShape 3"/>
            <p:cNvSpPr/>
            <p:nvPr/>
          </p:nvSpPr>
          <p:spPr>
            <a:xfrm>
              <a:off x="292100" y="300236"/>
              <a:ext cx="11684000" cy="6246614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  <a:lumMod val="20000"/>
                <a:lumOff val="8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292100" y="1086232"/>
              <a:ext cx="11684000" cy="0"/>
            </a:xfrm>
            <a:prstGeom prst="line">
              <a:avLst/>
            </a:prstGeom>
            <a:ln w="2857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0630105" y="686036"/>
            <a:ext cx="888795" cy="164628"/>
            <a:chOff x="10630105" y="635472"/>
            <a:chExt cx="888795" cy="164628"/>
          </a:xfrm>
        </p:grpSpPr>
        <p:sp>
          <p:nvSpPr>
            <p:cNvPr id="6" name="AutoShape 6"/>
            <p:cNvSpPr/>
            <p:nvPr/>
          </p:nvSpPr>
          <p:spPr>
            <a:xfrm flipH="1">
              <a:off x="11007439" y="641350"/>
              <a:ext cx="163077" cy="158750"/>
            </a:xfrm>
            <a:custGeom>
              <a:avLst/>
              <a:gdLst/>
              <a:ahLst/>
              <a:cxnLst/>
              <a:rect l="l" t="t" r="r" b="b"/>
              <a:pathLst>
                <a:path w="220906" h="221267">
                  <a:moveTo>
                    <a:pt x="0" y="0"/>
                  </a:moveTo>
                  <a:lnTo>
                    <a:pt x="220906" y="0"/>
                  </a:lnTo>
                  <a:lnTo>
                    <a:pt x="220906" y="221267"/>
                  </a:lnTo>
                  <a:lnTo>
                    <a:pt x="0" y="221267"/>
                  </a:lnTo>
                  <a:close/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10630105" y="721533"/>
              <a:ext cx="183063" cy="48442"/>
            </a:xfrm>
            <a:custGeom>
              <a:avLst/>
              <a:gdLst/>
              <a:ahLst/>
              <a:cxnLst/>
              <a:rect l="l" t="t" r="r" b="b"/>
              <a:pathLst>
                <a:path w="247978" h="36095">
                  <a:moveTo>
                    <a:pt x="0" y="0"/>
                  </a:moveTo>
                  <a:lnTo>
                    <a:pt x="247978" y="0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1359526" y="635472"/>
              <a:ext cx="159374" cy="164345"/>
              <a:chOff x="11359526" y="635472"/>
              <a:chExt cx="159374" cy="164345"/>
            </a:xfrm>
          </p:grpSpPr>
          <p:sp>
            <p:nvSpPr>
              <p:cNvPr id="9" name="AutoShape 9"/>
              <p:cNvSpPr/>
              <p:nvPr/>
            </p:nvSpPr>
            <p:spPr>
              <a:xfrm flipH="1">
                <a:off x="11364083" y="635472"/>
                <a:ext cx="154817" cy="164345"/>
              </a:xfrm>
              <a:custGeom>
                <a:avLst/>
                <a:gdLst/>
                <a:ahLst/>
                <a:cxnLst/>
                <a:rect l="l" t="t" r="r" b="b"/>
                <a:pathLst>
                  <a:path w="209716" h="209716">
                    <a:moveTo>
                      <a:pt x="209717" y="0"/>
                    </a:moveTo>
                    <a:lnTo>
                      <a:pt x="0" y="209717"/>
                    </a:lnTo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1359526" y="635472"/>
                <a:ext cx="154817" cy="164345"/>
              </a:xfrm>
              <a:custGeom>
                <a:avLst/>
                <a:gdLst/>
                <a:ahLst/>
                <a:cxnLst/>
                <a:rect l="l" t="t" r="r" b="b"/>
                <a:pathLst>
                  <a:path w="209716" h="209716">
                    <a:moveTo>
                      <a:pt x="209717" y="0"/>
                    </a:moveTo>
                    <a:lnTo>
                      <a:pt x="0" y="209717"/>
                    </a:lnTo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947D65">
            <a:alpha val="100000"/>
            <a:lumMod val="40000"/>
            <a:lumOff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947D65">
            <a:alpha val="100000"/>
            <a:lumMod val="40000"/>
            <a:lumOff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0400" y="2278743"/>
            <a:ext cx="10858500" cy="3956957"/>
            <a:chOff x="292100" y="300236"/>
            <a:chExt cx="11684000" cy="6246614"/>
          </a:xfrm>
        </p:grpSpPr>
        <p:sp>
          <p:nvSpPr>
            <p:cNvPr id="3" name="AutoShape 3"/>
            <p:cNvSpPr/>
            <p:nvPr/>
          </p:nvSpPr>
          <p:spPr>
            <a:xfrm>
              <a:off x="292100" y="300236"/>
              <a:ext cx="11684000" cy="6246614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  <a:lumMod val="20000"/>
                <a:lumOff val="8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292100" y="1086232"/>
              <a:ext cx="11684000" cy="0"/>
            </a:xfrm>
            <a:prstGeom prst="line">
              <a:avLst/>
            </a:prstGeom>
            <a:ln w="190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0368847" y="2464300"/>
            <a:ext cx="888795" cy="164628"/>
            <a:chOff x="10630105" y="635472"/>
            <a:chExt cx="888795" cy="164628"/>
          </a:xfrm>
        </p:grpSpPr>
        <p:sp>
          <p:nvSpPr>
            <p:cNvPr id="6" name="AutoShape 6"/>
            <p:cNvSpPr/>
            <p:nvPr/>
          </p:nvSpPr>
          <p:spPr>
            <a:xfrm flipH="1">
              <a:off x="11007439" y="641350"/>
              <a:ext cx="163077" cy="158750"/>
            </a:xfrm>
            <a:custGeom>
              <a:avLst/>
              <a:gdLst/>
              <a:ahLst/>
              <a:cxnLst/>
              <a:rect l="l" t="t" r="r" b="b"/>
              <a:pathLst>
                <a:path w="220906" h="221267">
                  <a:moveTo>
                    <a:pt x="0" y="0"/>
                  </a:moveTo>
                  <a:lnTo>
                    <a:pt x="220906" y="0"/>
                  </a:lnTo>
                  <a:lnTo>
                    <a:pt x="220906" y="221267"/>
                  </a:lnTo>
                  <a:lnTo>
                    <a:pt x="0" y="221267"/>
                  </a:lnTo>
                  <a:close/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10630105" y="721533"/>
              <a:ext cx="183063" cy="48442"/>
            </a:xfrm>
            <a:custGeom>
              <a:avLst/>
              <a:gdLst/>
              <a:ahLst/>
              <a:cxnLst/>
              <a:rect l="l" t="t" r="r" b="b"/>
              <a:pathLst>
                <a:path w="247978" h="36095">
                  <a:moveTo>
                    <a:pt x="0" y="0"/>
                  </a:moveTo>
                  <a:lnTo>
                    <a:pt x="247978" y="0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1359526" y="635472"/>
              <a:ext cx="159374" cy="164345"/>
              <a:chOff x="11359526" y="635472"/>
              <a:chExt cx="159374" cy="164345"/>
            </a:xfrm>
          </p:grpSpPr>
          <p:sp>
            <p:nvSpPr>
              <p:cNvPr id="9" name="AutoShape 9"/>
              <p:cNvSpPr/>
              <p:nvPr/>
            </p:nvSpPr>
            <p:spPr>
              <a:xfrm flipH="1">
                <a:off x="11364083" y="635472"/>
                <a:ext cx="154817" cy="164345"/>
              </a:xfrm>
              <a:custGeom>
                <a:avLst/>
                <a:gdLst/>
                <a:ahLst/>
                <a:cxnLst/>
                <a:rect l="l" t="t" r="r" b="b"/>
                <a:pathLst>
                  <a:path w="209716" h="209716">
                    <a:moveTo>
                      <a:pt x="209717" y="0"/>
                    </a:moveTo>
                    <a:lnTo>
                      <a:pt x="0" y="209717"/>
                    </a:lnTo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1359526" y="635472"/>
                <a:ext cx="154817" cy="164345"/>
              </a:xfrm>
              <a:custGeom>
                <a:avLst/>
                <a:gdLst/>
                <a:ahLst/>
                <a:cxnLst/>
                <a:rect l="l" t="t" r="r" b="b"/>
                <a:pathLst>
                  <a:path w="209716" h="209716">
                    <a:moveTo>
                      <a:pt x="209717" y="0"/>
                    </a:moveTo>
                    <a:lnTo>
                      <a:pt x="0" y="209717"/>
                    </a:lnTo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</p:grpSp>
      <p:sp>
        <p:nvSpPr>
          <p:cNvPr id="11" name="AutoShape 11"/>
          <p:cNvSpPr/>
          <p:nvPr/>
        </p:nvSpPr>
        <p:spPr>
          <a:xfrm>
            <a:off x="751300" y="501087"/>
            <a:ext cx="1461325" cy="416909"/>
          </a:xfrm>
          <a:custGeom>
            <a:avLst/>
            <a:gdLst/>
            <a:ahLst/>
            <a:cxnLst/>
            <a:rect l="l" t="t" r="r" b="b"/>
            <a:pathLst>
              <a:path w="1461325" h="416909">
                <a:moveTo>
                  <a:pt x="1252918" y="0"/>
                </a:moveTo>
                <a:lnTo>
                  <a:pt x="1461325" y="208502"/>
                </a:lnTo>
                <a:lnTo>
                  <a:pt x="1252918" y="416909"/>
                </a:lnTo>
                <a:lnTo>
                  <a:pt x="1196530" y="360521"/>
                </a:lnTo>
                <a:lnTo>
                  <a:pt x="1348549" y="208502"/>
                </a:lnTo>
                <a:lnTo>
                  <a:pt x="1196530" y="56388"/>
                </a:lnTo>
                <a:close/>
                <a:moveTo>
                  <a:pt x="1053465" y="0"/>
                </a:moveTo>
                <a:lnTo>
                  <a:pt x="1261967" y="208502"/>
                </a:lnTo>
                <a:lnTo>
                  <a:pt x="1053465" y="416909"/>
                </a:lnTo>
                <a:lnTo>
                  <a:pt x="997077" y="360521"/>
                </a:lnTo>
                <a:lnTo>
                  <a:pt x="1149096" y="208502"/>
                </a:lnTo>
                <a:lnTo>
                  <a:pt x="997077" y="56388"/>
                </a:lnTo>
                <a:close/>
                <a:moveTo>
                  <a:pt x="854106" y="0"/>
                </a:moveTo>
                <a:lnTo>
                  <a:pt x="1062513" y="208502"/>
                </a:lnTo>
                <a:lnTo>
                  <a:pt x="854106" y="416909"/>
                </a:lnTo>
                <a:lnTo>
                  <a:pt x="797718" y="360521"/>
                </a:lnTo>
                <a:lnTo>
                  <a:pt x="949737" y="208502"/>
                </a:lnTo>
                <a:lnTo>
                  <a:pt x="797718" y="56388"/>
                </a:lnTo>
                <a:close/>
                <a:moveTo>
                  <a:pt x="654653" y="0"/>
                </a:moveTo>
                <a:lnTo>
                  <a:pt x="863060" y="208502"/>
                </a:lnTo>
                <a:lnTo>
                  <a:pt x="654653" y="416909"/>
                </a:lnTo>
                <a:lnTo>
                  <a:pt x="598265" y="360521"/>
                </a:lnTo>
                <a:lnTo>
                  <a:pt x="750284" y="208502"/>
                </a:lnTo>
                <a:lnTo>
                  <a:pt x="598265" y="56388"/>
                </a:lnTo>
                <a:close/>
                <a:moveTo>
                  <a:pt x="455294" y="0"/>
                </a:moveTo>
                <a:lnTo>
                  <a:pt x="663701" y="208502"/>
                </a:lnTo>
                <a:lnTo>
                  <a:pt x="455294" y="416909"/>
                </a:lnTo>
                <a:lnTo>
                  <a:pt x="398811" y="360521"/>
                </a:lnTo>
                <a:lnTo>
                  <a:pt x="550830" y="208502"/>
                </a:lnTo>
                <a:lnTo>
                  <a:pt x="398811" y="56388"/>
                </a:lnTo>
                <a:close/>
                <a:moveTo>
                  <a:pt x="255841" y="0"/>
                </a:moveTo>
                <a:lnTo>
                  <a:pt x="464248" y="208502"/>
                </a:lnTo>
                <a:lnTo>
                  <a:pt x="255841" y="416909"/>
                </a:lnTo>
                <a:lnTo>
                  <a:pt x="199453" y="360521"/>
                </a:lnTo>
                <a:lnTo>
                  <a:pt x="351472" y="208502"/>
                </a:lnTo>
                <a:lnTo>
                  <a:pt x="199453" y="56388"/>
                </a:lnTo>
                <a:close/>
                <a:moveTo>
                  <a:pt x="56388" y="0"/>
                </a:moveTo>
                <a:lnTo>
                  <a:pt x="264795" y="208502"/>
                </a:lnTo>
                <a:lnTo>
                  <a:pt x="56388" y="416909"/>
                </a:lnTo>
                <a:lnTo>
                  <a:pt x="0" y="360521"/>
                </a:lnTo>
                <a:lnTo>
                  <a:pt x="152019" y="208502"/>
                </a:lnTo>
                <a:lnTo>
                  <a:pt x="0" y="56388"/>
                </a:lnTo>
                <a:close/>
              </a:path>
            </a:pathLst>
          </a:custGeom>
          <a:solidFill>
            <a:srgbClr val="EAC0B8">
              <a:alpha val="100000"/>
            </a:srgbClr>
          </a:solidFill>
          <a:ln w="9525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AutoShape 12"/>
          <p:cNvSpPr/>
          <p:nvPr/>
        </p:nvSpPr>
        <p:spPr>
          <a:xfrm>
            <a:off x="11361420" y="6075948"/>
            <a:ext cx="555319" cy="505580"/>
          </a:xfrm>
          <a:custGeom>
            <a:avLst/>
            <a:gdLst/>
            <a:ahLst/>
            <a:cxnLst/>
            <a:rect l="l" t="t" r="r" b="b"/>
            <a:pathLst>
              <a:path w="555319" h="505580">
                <a:moveTo>
                  <a:pt x="556558" y="97795"/>
                </a:moveTo>
                <a:lnTo>
                  <a:pt x="278902" y="49888"/>
                </a:lnTo>
                <a:lnTo>
                  <a:pt x="1239" y="1981"/>
                </a:lnTo>
                <a:lnTo>
                  <a:pt x="125702" y="254767"/>
                </a:lnTo>
                <a:lnTo>
                  <a:pt x="250165" y="507561"/>
                </a:lnTo>
                <a:lnTo>
                  <a:pt x="317160" y="312698"/>
                </a:lnTo>
                <a:lnTo>
                  <a:pt x="479212" y="433880"/>
                </a:lnTo>
                <a:lnTo>
                  <a:pt x="550630" y="338342"/>
                </a:lnTo>
                <a:lnTo>
                  <a:pt x="388585" y="217177"/>
                </a:lnTo>
                <a:lnTo>
                  <a:pt x="556558" y="97795"/>
                </a:lnTo>
                <a:close/>
              </a:path>
            </a:pathLst>
          </a:custGeom>
          <a:solidFill>
            <a:srgbClr val="EAC0B8">
              <a:alpha val="100000"/>
              <a:lumMod val="9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947D65">
            <a:alpha val="100000"/>
            <a:lumMod val="40000"/>
            <a:lumOff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650" y="300236"/>
            <a:ext cx="11684000" cy="6246614"/>
            <a:chOff x="241300" y="300236"/>
            <a:chExt cx="11684000" cy="6246614"/>
          </a:xfrm>
        </p:grpSpPr>
        <p:grpSp>
          <p:nvGrpSpPr>
            <p:cNvPr id="3" name="Group 3"/>
            <p:cNvGrpSpPr/>
            <p:nvPr/>
          </p:nvGrpSpPr>
          <p:grpSpPr>
            <a:xfrm>
              <a:off x="241300" y="300236"/>
              <a:ext cx="11684000" cy="6246614"/>
              <a:chOff x="292100" y="300236"/>
              <a:chExt cx="11684000" cy="6246614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292100" y="300236"/>
                <a:ext cx="11684000" cy="6246614"/>
              </a:xfrm>
              <a:prstGeom prst="roundRect">
                <a:avLst>
                  <a:gd name="adj" fmla="val 0"/>
                </a:avLst>
              </a:prstGeom>
              <a:solidFill>
                <a:srgbClr val="FFCE8E">
                  <a:alpha val="100000"/>
                  <a:lumMod val="20000"/>
                  <a:lumOff val="8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292100" y="1086232"/>
                <a:ext cx="11684000" cy="0"/>
              </a:xfrm>
              <a:prstGeom prst="line">
                <a:avLst/>
              </a:prstGeom>
              <a:ln w="2857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10604705" y="673336"/>
              <a:ext cx="888795" cy="164628"/>
              <a:chOff x="10630105" y="635472"/>
              <a:chExt cx="888795" cy="164628"/>
            </a:xfrm>
          </p:grpSpPr>
          <p:sp>
            <p:nvSpPr>
              <p:cNvPr id="7" name="AutoShape 7"/>
              <p:cNvSpPr/>
              <p:nvPr/>
            </p:nvSpPr>
            <p:spPr>
              <a:xfrm flipH="1">
                <a:off x="11007439" y="641350"/>
                <a:ext cx="163077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20906" h="221267">
                    <a:moveTo>
                      <a:pt x="0" y="0"/>
                    </a:moveTo>
                    <a:lnTo>
                      <a:pt x="220906" y="0"/>
                    </a:lnTo>
                    <a:lnTo>
                      <a:pt x="220906" y="221267"/>
                    </a:lnTo>
                    <a:lnTo>
                      <a:pt x="0" y="221267"/>
                    </a:lnTo>
                    <a:close/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 flipH="1">
                <a:off x="10630105" y="721533"/>
                <a:ext cx="183063" cy="48442"/>
              </a:xfrm>
              <a:custGeom>
                <a:avLst/>
                <a:gdLst/>
                <a:ahLst/>
                <a:cxnLst/>
                <a:rect l="l" t="t" r="r" b="b"/>
                <a:pathLst>
                  <a:path w="247978" h="36095">
                    <a:moveTo>
                      <a:pt x="0" y="0"/>
                    </a:moveTo>
                    <a:lnTo>
                      <a:pt x="247978" y="0"/>
                    </a:lnTo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11359526" y="635472"/>
                <a:ext cx="159374" cy="164345"/>
                <a:chOff x="11359526" y="635472"/>
                <a:chExt cx="159374" cy="164345"/>
              </a:xfrm>
            </p:grpSpPr>
            <p:sp>
              <p:nvSpPr>
                <p:cNvPr id="10" name="AutoShape 10"/>
                <p:cNvSpPr/>
                <p:nvPr/>
              </p:nvSpPr>
              <p:spPr>
                <a:xfrm flipH="1">
                  <a:off x="11364083" y="635472"/>
                  <a:ext cx="154817" cy="164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16" h="209716">
                      <a:moveTo>
                        <a:pt x="209717" y="0"/>
                      </a:moveTo>
                      <a:lnTo>
                        <a:pt x="0" y="209717"/>
                      </a:lnTo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AutoShape 11"/>
                <p:cNvSpPr/>
                <p:nvPr/>
              </p:nvSpPr>
              <p:spPr>
                <a:xfrm>
                  <a:off x="11359526" y="635472"/>
                  <a:ext cx="154817" cy="164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16" h="209716">
                      <a:moveTo>
                        <a:pt x="209717" y="0"/>
                      </a:moveTo>
                      <a:lnTo>
                        <a:pt x="0" y="209717"/>
                      </a:lnTo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</p:grpSp>
      </p:grpSp>
      <p:grpSp>
        <p:nvGrpSpPr>
          <p:cNvPr id="12" name="Group 12"/>
          <p:cNvGrpSpPr/>
          <p:nvPr/>
        </p:nvGrpSpPr>
        <p:grpSpPr>
          <a:xfrm>
            <a:off x="1047032" y="844628"/>
            <a:ext cx="10085236" cy="5391867"/>
            <a:chOff x="241300" y="300236"/>
            <a:chExt cx="11684000" cy="6246614"/>
          </a:xfrm>
        </p:grpSpPr>
        <p:grpSp>
          <p:nvGrpSpPr>
            <p:cNvPr id="13" name="Group 13"/>
            <p:cNvGrpSpPr/>
            <p:nvPr/>
          </p:nvGrpSpPr>
          <p:grpSpPr>
            <a:xfrm>
              <a:off x="241300" y="300236"/>
              <a:ext cx="11684000" cy="6246614"/>
              <a:chOff x="292100" y="300236"/>
              <a:chExt cx="11684000" cy="6246614"/>
            </a:xfrm>
          </p:grpSpPr>
          <p:sp>
            <p:nvSpPr>
              <p:cNvPr id="14" name="AutoShape 14"/>
              <p:cNvSpPr/>
              <p:nvPr/>
            </p:nvSpPr>
            <p:spPr>
              <a:xfrm>
                <a:off x="292100" y="300236"/>
                <a:ext cx="11684000" cy="6246614"/>
              </a:xfrm>
              <a:prstGeom prst="roundRect">
                <a:avLst>
                  <a:gd name="adj" fmla="val 0"/>
                </a:avLst>
              </a:prstGeom>
              <a:solidFill>
                <a:srgbClr val="FFCE8E">
                  <a:alpha val="100000"/>
                  <a:lumMod val="20000"/>
                  <a:lumOff val="8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292100" y="1086232"/>
                <a:ext cx="11684000" cy="0"/>
              </a:xfrm>
              <a:prstGeom prst="line">
                <a:avLst/>
              </a:prstGeom>
              <a:ln w="2857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10604705" y="673336"/>
              <a:ext cx="888795" cy="164628"/>
              <a:chOff x="10630105" y="635472"/>
              <a:chExt cx="888795" cy="164628"/>
            </a:xfrm>
          </p:grpSpPr>
          <p:sp>
            <p:nvSpPr>
              <p:cNvPr id="17" name="AutoShape 17"/>
              <p:cNvSpPr/>
              <p:nvPr/>
            </p:nvSpPr>
            <p:spPr>
              <a:xfrm flipH="1">
                <a:off x="11007439" y="641350"/>
                <a:ext cx="163077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20906" h="221267">
                    <a:moveTo>
                      <a:pt x="0" y="0"/>
                    </a:moveTo>
                    <a:lnTo>
                      <a:pt x="220906" y="0"/>
                    </a:lnTo>
                    <a:lnTo>
                      <a:pt x="220906" y="221267"/>
                    </a:lnTo>
                    <a:lnTo>
                      <a:pt x="0" y="221267"/>
                    </a:lnTo>
                    <a:close/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 flipH="1">
                <a:off x="10630105" y="721533"/>
                <a:ext cx="183063" cy="48442"/>
              </a:xfrm>
              <a:custGeom>
                <a:avLst/>
                <a:gdLst/>
                <a:ahLst/>
                <a:cxnLst/>
                <a:rect l="l" t="t" r="r" b="b"/>
                <a:pathLst>
                  <a:path w="247978" h="36095">
                    <a:moveTo>
                      <a:pt x="0" y="0"/>
                    </a:moveTo>
                    <a:lnTo>
                      <a:pt x="247978" y="0"/>
                    </a:lnTo>
                  </a:path>
                </a:pathLst>
              </a:custGeom>
              <a:ln w="36059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1359526" y="635472"/>
                <a:ext cx="159374" cy="164345"/>
                <a:chOff x="11359526" y="635472"/>
                <a:chExt cx="159374" cy="164345"/>
              </a:xfrm>
            </p:grpSpPr>
            <p:sp>
              <p:nvSpPr>
                <p:cNvPr id="20" name="AutoShape 20"/>
                <p:cNvSpPr/>
                <p:nvPr/>
              </p:nvSpPr>
              <p:spPr>
                <a:xfrm flipH="1">
                  <a:off x="11364083" y="635472"/>
                  <a:ext cx="154817" cy="164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16" h="209716">
                      <a:moveTo>
                        <a:pt x="209717" y="0"/>
                      </a:moveTo>
                      <a:lnTo>
                        <a:pt x="0" y="209717"/>
                      </a:lnTo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1" name="AutoShape 21"/>
                <p:cNvSpPr/>
                <p:nvPr/>
              </p:nvSpPr>
              <p:spPr>
                <a:xfrm>
                  <a:off x="11359526" y="635472"/>
                  <a:ext cx="154817" cy="164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16" h="209716">
                      <a:moveTo>
                        <a:pt x="209717" y="0"/>
                      </a:moveTo>
                      <a:lnTo>
                        <a:pt x="0" y="209717"/>
                      </a:lnTo>
                    </a:path>
                  </a:pathLst>
                </a:custGeom>
                <a:ln w="36059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</p:grpSp>
      </p:grpSp>
      <p:grpSp>
        <p:nvGrpSpPr>
          <p:cNvPr id="22" name="Group 22"/>
          <p:cNvGrpSpPr/>
          <p:nvPr/>
        </p:nvGrpSpPr>
        <p:grpSpPr>
          <a:xfrm>
            <a:off x="542633" y="1979256"/>
            <a:ext cx="1520470" cy="1561305"/>
            <a:chOff x="292100" y="300236"/>
            <a:chExt cx="11684000" cy="6246614"/>
          </a:xfrm>
        </p:grpSpPr>
        <p:sp>
          <p:nvSpPr>
            <p:cNvPr id="23" name="AutoShape 23"/>
            <p:cNvSpPr/>
            <p:nvPr/>
          </p:nvSpPr>
          <p:spPr>
            <a:xfrm>
              <a:off x="292100" y="300236"/>
              <a:ext cx="11684000" cy="6246614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  <a:lumMod val="20000"/>
                <a:lumOff val="8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292100" y="1086232"/>
              <a:ext cx="11684000" cy="0"/>
            </a:xfrm>
            <a:prstGeom prst="line">
              <a:avLst/>
            </a:prstGeom>
            <a:ln w="190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42633" y="3996743"/>
            <a:ext cx="2060867" cy="1155092"/>
            <a:chOff x="292100" y="300236"/>
            <a:chExt cx="11684000" cy="6246614"/>
          </a:xfrm>
        </p:grpSpPr>
        <p:sp>
          <p:nvSpPr>
            <p:cNvPr id="26" name="AutoShape 26"/>
            <p:cNvSpPr/>
            <p:nvPr/>
          </p:nvSpPr>
          <p:spPr>
            <a:xfrm>
              <a:off x="292100" y="300236"/>
              <a:ext cx="11684000" cy="6246614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  <a:lumMod val="20000"/>
                <a:lumOff val="8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292100" y="1086232"/>
              <a:ext cx="11684000" cy="0"/>
            </a:xfrm>
            <a:prstGeom prst="line">
              <a:avLst/>
            </a:prstGeom>
            <a:ln w="190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2">
            <a:alphaModFix/>
          </a:blip>
          <a:srcRect l="11376" t="27058" r="80921"/>
          <a:stretch>
            <a:fillRect/>
          </a:stretch>
        </p:blipFill>
        <p:spPr>
          <a:xfrm>
            <a:off x="10694264" y="1507325"/>
            <a:ext cx="969618" cy="2491481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9" name="AutoShape 29"/>
          <p:cNvSpPr/>
          <p:nvPr/>
        </p:nvSpPr>
        <p:spPr>
          <a:xfrm>
            <a:off x="673100" y="2416097"/>
            <a:ext cx="1200823" cy="832964"/>
          </a:xfrm>
          <a:prstGeom prst="rect">
            <a:avLst/>
          </a:prstGeom>
          <a:solidFill>
            <a:srgbClr val="EAC0B8">
              <a:alpha val="100000"/>
              <a:lumMod val="9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sp>
      <p:grpSp>
        <p:nvGrpSpPr>
          <p:cNvPr id="30" name="Group 30"/>
          <p:cNvGrpSpPr/>
          <p:nvPr/>
        </p:nvGrpSpPr>
        <p:grpSpPr>
          <a:xfrm>
            <a:off x="1022377" y="2576339"/>
            <a:ext cx="502267" cy="508355"/>
            <a:chOff x="736962" y="2324004"/>
            <a:chExt cx="1010552" cy="1022801"/>
          </a:xfrm>
        </p:grpSpPr>
        <p:sp>
          <p:nvSpPr>
            <p:cNvPr id="31" name="AutoShape 31"/>
            <p:cNvSpPr/>
            <p:nvPr/>
          </p:nvSpPr>
          <p:spPr>
            <a:xfrm>
              <a:off x="1128932" y="2630232"/>
              <a:ext cx="373600" cy="422595"/>
            </a:xfrm>
            <a:custGeom>
              <a:avLst/>
              <a:gdLst/>
              <a:ahLst/>
              <a:cxnLst/>
              <a:rect l="l" t="t" r="r" b="b"/>
              <a:pathLst>
                <a:path w="61" h="69">
                  <a:moveTo>
                    <a:pt x="61" y="35"/>
                  </a:moveTo>
                  <a:lnTo>
                    <a:pt x="29" y="52"/>
                  </a:lnTo>
                  <a:lnTo>
                    <a:pt x="0" y="69"/>
                  </a:lnTo>
                  <a:lnTo>
                    <a:pt x="0" y="35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61" y="35"/>
                  </a:lnTo>
                  <a:close/>
                </a:path>
              </a:pathLst>
            </a:custGeom>
            <a:solidFill>
              <a:srgbClr val="FFCE8E">
                <a:alpha val="100000"/>
                <a:lumMod val="50000"/>
              </a:srgbClr>
            </a:solidFill>
            <a:ln w="127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736962" y="2324004"/>
              <a:ext cx="1010552" cy="1022801"/>
            </a:xfrm>
            <a:custGeom>
              <a:avLst/>
              <a:gdLst/>
              <a:ahLst/>
              <a:cxnLst/>
              <a:rect l="l" t="t" r="r" b="b"/>
              <a:pathLst>
                <a:path w="106" h="107">
                  <a:moveTo>
                    <a:pt x="28" y="11"/>
                  </a:moveTo>
                  <a:cubicBezTo>
                    <a:pt x="35" y="7"/>
                    <a:pt x="44" y="4"/>
                    <a:pt x="53" y="4"/>
                  </a:cubicBezTo>
                  <a:cubicBezTo>
                    <a:pt x="66" y="4"/>
                    <a:pt x="79" y="10"/>
                    <a:pt x="88" y="19"/>
                  </a:cubicBezTo>
                  <a:cubicBezTo>
                    <a:pt x="97" y="28"/>
                    <a:pt x="102" y="40"/>
                    <a:pt x="102" y="53"/>
                  </a:cubicBezTo>
                  <a:cubicBezTo>
                    <a:pt x="102" y="67"/>
                    <a:pt x="97" y="79"/>
                    <a:pt x="88" y="88"/>
                  </a:cubicBezTo>
                  <a:cubicBezTo>
                    <a:pt x="79" y="97"/>
                    <a:pt x="66" y="103"/>
                    <a:pt x="53" y="103"/>
                  </a:cubicBezTo>
                  <a:cubicBezTo>
                    <a:pt x="39" y="103"/>
                    <a:pt x="27" y="97"/>
                    <a:pt x="18" y="88"/>
                  </a:cubicBezTo>
                  <a:cubicBezTo>
                    <a:pt x="9" y="79"/>
                    <a:pt x="4" y="67"/>
                    <a:pt x="4" y="53"/>
                  </a:cubicBezTo>
                  <a:cubicBezTo>
                    <a:pt x="4" y="42"/>
                    <a:pt x="8" y="31"/>
                    <a:pt x="14" y="23"/>
                  </a:cubicBezTo>
                  <a:cubicBezTo>
                    <a:pt x="15" y="22"/>
                    <a:pt x="15" y="21"/>
                    <a:pt x="14" y="20"/>
                  </a:cubicBezTo>
                  <a:cubicBezTo>
                    <a:pt x="13" y="20"/>
                    <a:pt x="12" y="20"/>
                    <a:pt x="11" y="21"/>
                  </a:cubicBezTo>
                  <a:cubicBezTo>
                    <a:pt x="4" y="30"/>
                    <a:pt x="0" y="41"/>
                    <a:pt x="0" y="53"/>
                  </a:cubicBezTo>
                  <a:cubicBezTo>
                    <a:pt x="0" y="83"/>
                    <a:pt x="24" y="107"/>
                    <a:pt x="53" y="107"/>
                  </a:cubicBezTo>
                  <a:cubicBezTo>
                    <a:pt x="82" y="107"/>
                    <a:pt x="106" y="83"/>
                    <a:pt x="106" y="53"/>
                  </a:cubicBezTo>
                  <a:cubicBezTo>
                    <a:pt x="106" y="24"/>
                    <a:pt x="82" y="0"/>
                    <a:pt x="53" y="0"/>
                  </a:cubicBezTo>
                  <a:cubicBezTo>
                    <a:pt x="43" y="0"/>
                    <a:pt x="34" y="3"/>
                    <a:pt x="26" y="8"/>
                  </a:cubicBezTo>
                  <a:cubicBezTo>
                    <a:pt x="25" y="9"/>
                    <a:pt x="24" y="10"/>
                    <a:pt x="25" y="11"/>
                  </a:cubicBezTo>
                  <a:cubicBezTo>
                    <a:pt x="25" y="12"/>
                    <a:pt x="27" y="12"/>
                    <a:pt x="28" y="1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headEnd type="none"/>
              <a:tailEnd type="none"/>
            </a:ln>
          </p:spPr>
        </p:sp>
      </p:grpSp>
      <p:sp>
        <p:nvSpPr>
          <p:cNvPr id="33" name="AutoShape 33"/>
          <p:cNvSpPr/>
          <p:nvPr/>
        </p:nvSpPr>
        <p:spPr>
          <a:xfrm>
            <a:off x="933612" y="4382540"/>
            <a:ext cx="1164477" cy="485454"/>
          </a:xfrm>
          <a:custGeom>
            <a:avLst/>
            <a:gdLst/>
            <a:ahLst/>
            <a:cxnLst/>
            <a:rect l="l" t="t" r="r" b="b"/>
            <a:pathLst>
              <a:path w="379" h="158">
                <a:moveTo>
                  <a:pt x="372" y="69"/>
                </a:moveTo>
                <a:cubicBezTo>
                  <a:pt x="334" y="48"/>
                  <a:pt x="295" y="26"/>
                  <a:pt x="257" y="5"/>
                </a:cubicBezTo>
                <a:cubicBezTo>
                  <a:pt x="248" y="0"/>
                  <a:pt x="242" y="3"/>
                  <a:pt x="242" y="14"/>
                </a:cubicBezTo>
                <a:cubicBezTo>
                  <a:pt x="242" y="21"/>
                  <a:pt x="242" y="36"/>
                  <a:pt x="242" y="53"/>
                </a:cubicBezTo>
                <a:cubicBezTo>
                  <a:pt x="210" y="53"/>
                  <a:pt x="27" y="53"/>
                  <a:pt x="12" y="53"/>
                </a:cubicBezTo>
                <a:cubicBezTo>
                  <a:pt x="4" y="53"/>
                  <a:pt x="0" y="57"/>
                  <a:pt x="0" y="65"/>
                </a:cubicBezTo>
                <a:cubicBezTo>
                  <a:pt x="0" y="74"/>
                  <a:pt x="0" y="84"/>
                  <a:pt x="0" y="93"/>
                </a:cubicBezTo>
                <a:cubicBezTo>
                  <a:pt x="0" y="101"/>
                  <a:pt x="4" y="104"/>
                  <a:pt x="11" y="104"/>
                </a:cubicBezTo>
                <a:cubicBezTo>
                  <a:pt x="23" y="104"/>
                  <a:pt x="209" y="104"/>
                  <a:pt x="242" y="104"/>
                </a:cubicBezTo>
                <a:cubicBezTo>
                  <a:pt x="242" y="121"/>
                  <a:pt x="242" y="135"/>
                  <a:pt x="242" y="142"/>
                </a:cubicBezTo>
                <a:cubicBezTo>
                  <a:pt x="242" y="154"/>
                  <a:pt x="249" y="158"/>
                  <a:pt x="259" y="152"/>
                </a:cubicBezTo>
                <a:cubicBezTo>
                  <a:pt x="297" y="131"/>
                  <a:pt x="334" y="110"/>
                  <a:pt x="372" y="89"/>
                </a:cubicBezTo>
                <a:cubicBezTo>
                  <a:pt x="376" y="87"/>
                  <a:pt x="379" y="84"/>
                  <a:pt x="379" y="79"/>
                </a:cubicBezTo>
                <a:cubicBezTo>
                  <a:pt x="379" y="74"/>
                  <a:pt x="376" y="71"/>
                  <a:pt x="372" y="69"/>
                </a:cubicBezTo>
                <a:close/>
              </a:path>
            </a:pathLst>
          </a:custGeom>
          <a:solidFill>
            <a:srgbClr val="EAC0B8">
              <a:alpha val="100000"/>
              <a:lumMod val="90000"/>
            </a:srgbClr>
          </a:solidFill>
          <a:ln w="25400">
            <a:solidFill>
              <a:srgbClr val="000000">
                <a:alpha val="100000"/>
              </a:srgbClr>
            </a:solidFill>
            <a:headEnd type="none"/>
            <a:tailEnd type="none"/>
          </a:ln>
        </p:spPr>
      </p:sp>
      <p:grpSp>
        <p:nvGrpSpPr>
          <p:cNvPr id="34" name="Group 34"/>
          <p:cNvGrpSpPr/>
          <p:nvPr/>
        </p:nvGrpSpPr>
        <p:grpSpPr>
          <a:xfrm>
            <a:off x="8896155" y="5239183"/>
            <a:ext cx="779815" cy="733635"/>
            <a:chOff x="2728738" y="4612638"/>
            <a:chExt cx="779815" cy="733635"/>
          </a:xfrm>
        </p:grpSpPr>
        <p:sp>
          <p:nvSpPr>
            <p:cNvPr id="35" name="AutoShape 35"/>
            <p:cNvSpPr/>
            <p:nvPr/>
          </p:nvSpPr>
          <p:spPr>
            <a:xfrm>
              <a:off x="2942159" y="4612638"/>
              <a:ext cx="42687" cy="59202"/>
            </a:xfrm>
            <a:custGeom>
              <a:avLst/>
              <a:gdLst/>
              <a:ahLst/>
              <a:cxnLst/>
              <a:rect l="l" t="t" r="r" b="b"/>
              <a:pathLst>
                <a:path w="42687" h="59202">
                  <a:moveTo>
                    <a:pt x="30052" y="61008"/>
                  </a:moveTo>
                  <a:lnTo>
                    <a:pt x="1135" y="53271"/>
                  </a:lnTo>
                  <a:lnTo>
                    <a:pt x="14913" y="1805"/>
                  </a:lnTo>
                  <a:lnTo>
                    <a:pt x="43822" y="9541"/>
                  </a:lnTo>
                  <a:lnTo>
                    <a:pt x="30052" y="61008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2942159" y="4612638"/>
              <a:ext cx="42687" cy="59202"/>
            </a:xfrm>
            <a:custGeom>
              <a:avLst/>
              <a:gdLst/>
              <a:ahLst/>
              <a:cxnLst/>
              <a:rect l="l" t="t" r="r" b="b"/>
              <a:pathLst>
                <a:path w="42687" h="59202">
                  <a:moveTo>
                    <a:pt x="30052" y="61008"/>
                  </a:moveTo>
                  <a:lnTo>
                    <a:pt x="1135" y="53271"/>
                  </a:lnTo>
                  <a:lnTo>
                    <a:pt x="14913" y="1805"/>
                  </a:lnTo>
                  <a:lnTo>
                    <a:pt x="43822" y="9541"/>
                  </a:lnTo>
                  <a:lnTo>
                    <a:pt x="30052" y="61008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2772240" y="4656222"/>
              <a:ext cx="58860" cy="58851"/>
            </a:xfrm>
            <a:custGeom>
              <a:avLst/>
              <a:gdLst/>
              <a:ahLst/>
              <a:cxnLst/>
              <a:rect l="l" t="t" r="r" b="b"/>
              <a:pathLst>
                <a:path w="58860" h="58851">
                  <a:moveTo>
                    <a:pt x="38784" y="60674"/>
                  </a:moveTo>
                  <a:lnTo>
                    <a:pt x="1072" y="22995"/>
                  </a:lnTo>
                  <a:lnTo>
                    <a:pt x="22228" y="1822"/>
                  </a:lnTo>
                  <a:lnTo>
                    <a:pt x="59932" y="39501"/>
                  </a:lnTo>
                  <a:lnTo>
                    <a:pt x="38784" y="60674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2728738" y="4826141"/>
              <a:ext cx="59234" cy="42711"/>
            </a:xfrm>
            <a:custGeom>
              <a:avLst/>
              <a:gdLst/>
              <a:ahLst/>
              <a:cxnLst/>
              <a:rect l="l" t="t" r="r" b="b"/>
              <a:pathLst>
                <a:path w="59234" h="42711">
                  <a:moveTo>
                    <a:pt x="8799" y="44597"/>
                  </a:moveTo>
                  <a:lnTo>
                    <a:pt x="1055" y="15688"/>
                  </a:lnTo>
                  <a:lnTo>
                    <a:pt x="52537" y="1885"/>
                  </a:lnTo>
                  <a:lnTo>
                    <a:pt x="60290" y="30786"/>
                  </a:lnTo>
                  <a:lnTo>
                    <a:pt x="8799" y="44597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2855530" y="4936312"/>
              <a:ext cx="42679" cy="59226"/>
            </a:xfrm>
            <a:custGeom>
              <a:avLst/>
              <a:gdLst/>
              <a:ahLst/>
              <a:cxnLst/>
              <a:rect l="l" t="t" r="r" b="b"/>
              <a:pathLst>
                <a:path w="42679" h="59226">
                  <a:moveTo>
                    <a:pt x="30010" y="61158"/>
                  </a:moveTo>
                  <a:lnTo>
                    <a:pt x="1101" y="53429"/>
                  </a:lnTo>
                  <a:lnTo>
                    <a:pt x="14863" y="1931"/>
                  </a:lnTo>
                  <a:lnTo>
                    <a:pt x="43780" y="9659"/>
                  </a:lnTo>
                  <a:lnTo>
                    <a:pt x="30010" y="61158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3009244" y="4893112"/>
              <a:ext cx="58868" cy="58835"/>
            </a:xfrm>
            <a:custGeom>
              <a:avLst/>
              <a:gdLst/>
              <a:ahLst/>
              <a:cxnLst/>
              <a:rect l="l" t="t" r="r" b="b"/>
              <a:pathLst>
                <a:path w="58868" h="58835">
                  <a:moveTo>
                    <a:pt x="38876" y="60750"/>
                  </a:moveTo>
                  <a:lnTo>
                    <a:pt x="1164" y="23095"/>
                  </a:lnTo>
                  <a:lnTo>
                    <a:pt x="22320" y="1914"/>
                  </a:lnTo>
                  <a:lnTo>
                    <a:pt x="60032" y="39569"/>
                  </a:lnTo>
                  <a:lnTo>
                    <a:pt x="38876" y="60750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3052363" y="4739317"/>
              <a:ext cx="59258" cy="42744"/>
            </a:xfrm>
            <a:custGeom>
              <a:avLst/>
              <a:gdLst/>
              <a:ahLst/>
              <a:cxnLst/>
              <a:rect l="l" t="t" r="r" b="b"/>
              <a:pathLst>
                <a:path w="59258" h="42744">
                  <a:moveTo>
                    <a:pt x="8949" y="44595"/>
                  </a:moveTo>
                  <a:lnTo>
                    <a:pt x="1181" y="15695"/>
                  </a:lnTo>
                  <a:lnTo>
                    <a:pt x="52679" y="1851"/>
                  </a:lnTo>
                  <a:lnTo>
                    <a:pt x="60440" y="30760"/>
                  </a:lnTo>
                  <a:lnTo>
                    <a:pt x="8949" y="44595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2953234" y="4840693"/>
              <a:ext cx="555319" cy="505580"/>
            </a:xfrm>
            <a:custGeom>
              <a:avLst/>
              <a:gdLst/>
              <a:ahLst/>
              <a:cxnLst/>
              <a:rect l="l" t="t" r="r" b="b"/>
              <a:pathLst>
                <a:path w="555319" h="505580">
                  <a:moveTo>
                    <a:pt x="556558" y="97795"/>
                  </a:moveTo>
                  <a:lnTo>
                    <a:pt x="278902" y="49888"/>
                  </a:lnTo>
                  <a:lnTo>
                    <a:pt x="1239" y="1981"/>
                  </a:lnTo>
                  <a:lnTo>
                    <a:pt x="125702" y="254767"/>
                  </a:lnTo>
                  <a:lnTo>
                    <a:pt x="250165" y="507561"/>
                  </a:lnTo>
                  <a:lnTo>
                    <a:pt x="317160" y="312698"/>
                  </a:lnTo>
                  <a:lnTo>
                    <a:pt x="479212" y="433880"/>
                  </a:lnTo>
                  <a:lnTo>
                    <a:pt x="550630" y="338342"/>
                  </a:lnTo>
                  <a:lnTo>
                    <a:pt x="388585" y="217177"/>
                  </a:lnTo>
                  <a:lnTo>
                    <a:pt x="556558" y="97795"/>
                  </a:lnTo>
                  <a:close/>
                </a:path>
              </a:pathLst>
            </a:custGeom>
            <a:solidFill>
              <a:srgbClr val="EAC0B8">
                <a:alpha val="100000"/>
                <a:lumMod val="90000"/>
              </a:srgbClr>
            </a:solidFill>
            <a:ln w="254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43" name="AutoShape 43"/>
          <p:cNvSpPr/>
          <p:nvPr/>
        </p:nvSpPr>
        <p:spPr>
          <a:xfrm>
            <a:off x="2297504" y="5511441"/>
            <a:ext cx="1461325" cy="416909"/>
          </a:xfrm>
          <a:custGeom>
            <a:avLst/>
            <a:gdLst/>
            <a:ahLst/>
            <a:cxnLst/>
            <a:rect l="l" t="t" r="r" b="b"/>
            <a:pathLst>
              <a:path w="1461325" h="416909">
                <a:moveTo>
                  <a:pt x="1252918" y="0"/>
                </a:moveTo>
                <a:lnTo>
                  <a:pt x="1461325" y="208502"/>
                </a:lnTo>
                <a:lnTo>
                  <a:pt x="1252918" y="416909"/>
                </a:lnTo>
                <a:lnTo>
                  <a:pt x="1196530" y="360521"/>
                </a:lnTo>
                <a:lnTo>
                  <a:pt x="1348549" y="208502"/>
                </a:lnTo>
                <a:lnTo>
                  <a:pt x="1196530" y="56388"/>
                </a:lnTo>
                <a:close/>
                <a:moveTo>
                  <a:pt x="1053465" y="0"/>
                </a:moveTo>
                <a:lnTo>
                  <a:pt x="1261967" y="208502"/>
                </a:lnTo>
                <a:lnTo>
                  <a:pt x="1053465" y="416909"/>
                </a:lnTo>
                <a:lnTo>
                  <a:pt x="997077" y="360521"/>
                </a:lnTo>
                <a:lnTo>
                  <a:pt x="1149096" y="208502"/>
                </a:lnTo>
                <a:lnTo>
                  <a:pt x="997077" y="56388"/>
                </a:lnTo>
                <a:close/>
                <a:moveTo>
                  <a:pt x="854106" y="0"/>
                </a:moveTo>
                <a:lnTo>
                  <a:pt x="1062513" y="208502"/>
                </a:lnTo>
                <a:lnTo>
                  <a:pt x="854106" y="416909"/>
                </a:lnTo>
                <a:lnTo>
                  <a:pt x="797718" y="360521"/>
                </a:lnTo>
                <a:lnTo>
                  <a:pt x="949737" y="208502"/>
                </a:lnTo>
                <a:lnTo>
                  <a:pt x="797718" y="56388"/>
                </a:lnTo>
                <a:close/>
                <a:moveTo>
                  <a:pt x="654653" y="0"/>
                </a:moveTo>
                <a:lnTo>
                  <a:pt x="863060" y="208502"/>
                </a:lnTo>
                <a:lnTo>
                  <a:pt x="654653" y="416909"/>
                </a:lnTo>
                <a:lnTo>
                  <a:pt x="598265" y="360521"/>
                </a:lnTo>
                <a:lnTo>
                  <a:pt x="750284" y="208502"/>
                </a:lnTo>
                <a:lnTo>
                  <a:pt x="598265" y="56388"/>
                </a:lnTo>
                <a:close/>
                <a:moveTo>
                  <a:pt x="455294" y="0"/>
                </a:moveTo>
                <a:lnTo>
                  <a:pt x="663701" y="208502"/>
                </a:lnTo>
                <a:lnTo>
                  <a:pt x="455294" y="416909"/>
                </a:lnTo>
                <a:lnTo>
                  <a:pt x="398811" y="360521"/>
                </a:lnTo>
                <a:lnTo>
                  <a:pt x="550830" y="208502"/>
                </a:lnTo>
                <a:lnTo>
                  <a:pt x="398811" y="56388"/>
                </a:lnTo>
                <a:close/>
                <a:moveTo>
                  <a:pt x="255841" y="0"/>
                </a:moveTo>
                <a:lnTo>
                  <a:pt x="464248" y="208502"/>
                </a:lnTo>
                <a:lnTo>
                  <a:pt x="255841" y="416909"/>
                </a:lnTo>
                <a:lnTo>
                  <a:pt x="199453" y="360521"/>
                </a:lnTo>
                <a:lnTo>
                  <a:pt x="351472" y="208502"/>
                </a:lnTo>
                <a:lnTo>
                  <a:pt x="199453" y="56388"/>
                </a:lnTo>
                <a:close/>
                <a:moveTo>
                  <a:pt x="56388" y="0"/>
                </a:moveTo>
                <a:lnTo>
                  <a:pt x="264795" y="208502"/>
                </a:lnTo>
                <a:lnTo>
                  <a:pt x="56388" y="416909"/>
                </a:lnTo>
                <a:lnTo>
                  <a:pt x="0" y="360521"/>
                </a:lnTo>
                <a:lnTo>
                  <a:pt x="152019" y="208502"/>
                </a:lnTo>
                <a:lnTo>
                  <a:pt x="0" y="56388"/>
                </a:lnTo>
                <a:close/>
              </a:path>
            </a:pathLst>
          </a:custGeom>
          <a:solidFill>
            <a:srgbClr val="EAC0B8">
              <a:alpha val="100000"/>
            </a:srgbClr>
          </a:solidFill>
          <a:ln w="9525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sp>
      <p:grpSp>
        <p:nvGrpSpPr>
          <p:cNvPr id="44" name="Group 44"/>
          <p:cNvGrpSpPr/>
          <p:nvPr/>
        </p:nvGrpSpPr>
        <p:grpSpPr>
          <a:xfrm>
            <a:off x="10318077" y="4468708"/>
            <a:ext cx="1767228" cy="1244236"/>
            <a:chOff x="10318077" y="4468708"/>
            <a:chExt cx="1767228" cy="1244236"/>
          </a:xfrm>
        </p:grpSpPr>
        <p:grpSp>
          <p:nvGrpSpPr>
            <p:cNvPr id="45" name="Group 45"/>
            <p:cNvGrpSpPr/>
            <p:nvPr/>
          </p:nvGrpSpPr>
          <p:grpSpPr>
            <a:xfrm>
              <a:off x="10318077" y="4468708"/>
              <a:ext cx="1767228" cy="1244236"/>
              <a:chOff x="292100" y="300236"/>
              <a:chExt cx="11684000" cy="6246614"/>
            </a:xfrm>
          </p:grpSpPr>
          <p:sp>
            <p:nvSpPr>
              <p:cNvPr id="46" name="AutoShape 46"/>
              <p:cNvSpPr/>
              <p:nvPr/>
            </p:nvSpPr>
            <p:spPr>
              <a:xfrm>
                <a:off x="292100" y="300236"/>
                <a:ext cx="11684000" cy="6246614"/>
              </a:xfrm>
              <a:prstGeom prst="roundRect">
                <a:avLst>
                  <a:gd name="adj" fmla="val 0"/>
                </a:avLst>
              </a:prstGeom>
              <a:solidFill>
                <a:srgbClr val="FFCE8E">
                  <a:alpha val="100000"/>
                  <a:lumMod val="20000"/>
                  <a:lumOff val="8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47" name="AutoShape 47"/>
              <p:cNvSpPr/>
              <p:nvPr/>
            </p:nvSpPr>
            <p:spPr>
              <a:xfrm>
                <a:off x="292100" y="1086232"/>
                <a:ext cx="11684000" cy="0"/>
              </a:xfrm>
              <a:prstGeom prst="line">
                <a:avLst/>
              </a:prstGeom>
              <a:ln w="1905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sp>
          <p:nvSpPr>
            <p:cNvPr id="48" name="AutoShape 48"/>
            <p:cNvSpPr/>
            <p:nvPr/>
          </p:nvSpPr>
          <p:spPr>
            <a:xfrm>
              <a:off x="10694638" y="5481925"/>
              <a:ext cx="1056860" cy="61507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7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10506021" y="5324754"/>
              <a:ext cx="1434094" cy="61507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7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10668181" y="4825372"/>
              <a:ext cx="267302" cy="269529"/>
            </a:xfrm>
            <a:prstGeom prst="ellipse">
              <a:avLst/>
            </a:prstGeom>
            <a:solidFill>
              <a:srgbClr val="947D65">
                <a:alpha val="100000"/>
                <a:lumMod val="40000"/>
                <a:lumOff val="6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11110343" y="4825372"/>
              <a:ext cx="266188" cy="269529"/>
            </a:xfrm>
            <a:prstGeom prst="ellipse">
              <a:avLst/>
            </a:prstGeom>
            <a:solidFill>
              <a:srgbClr val="FFCE8E">
                <a:alpha val="100000"/>
                <a:lumMod val="20000"/>
                <a:lumOff val="8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11530230" y="4825372"/>
              <a:ext cx="267302" cy="269529"/>
            </a:xfrm>
            <a:prstGeom prst="ellipse">
              <a:avLst/>
            </a:prstGeom>
            <a:solidFill>
              <a:srgbClr val="EAC0B8">
                <a:alpha val="10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97504" y="1610371"/>
            <a:ext cx="7584292" cy="18186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 w="19050"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Python矢量图编辑器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297504" y="3486168"/>
            <a:ext cx="7584292" cy="65591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基于标准库tkinter的图形设计与实现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804272" y="4630520"/>
            <a:ext cx="6570756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t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 dirty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报告人</a:t>
            </a:r>
            <a:r>
              <a:rPr lang="en-US" sz="12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:</a:t>
            </a:r>
            <a:r>
              <a:rPr lang="zh-CN" altLang="en-US" sz="12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马振家</a:t>
            </a:r>
            <a:endParaRPr lang="en-US" sz="1100" dirty="0"/>
          </a:p>
        </p:txBody>
      </p:sp>
      <p:sp>
        <p:nvSpPr>
          <p:cNvPr id="5" name="TextBox 5"/>
          <p:cNvSpPr txBox="1"/>
          <p:nvPr/>
        </p:nvSpPr>
        <p:spPr>
          <a:xfrm>
            <a:off x="2804272" y="4907519"/>
            <a:ext cx="6570756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t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2026.6.01</a:t>
            </a:r>
            <a:endParaRPr lang="en-US" sz="1100" dirty="0"/>
          </a:p>
        </p:txBody>
      </p:sp>
      <p:pic>
        <p:nvPicPr>
          <p:cNvPr id="99999" name="WatermarkAig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3887bb6-e91f-45a6-9011-c46c5b06b135"/>
          <p:cNvGrpSpPr/>
          <p:nvPr/>
        </p:nvGrpSpPr>
        <p:grpSpPr>
          <a:xfrm>
            <a:off x="660400" y="272746"/>
            <a:ext cx="11256339" cy="6155949"/>
            <a:chOff x="660400" y="272746"/>
            <a:chExt cx="11256339" cy="6155949"/>
          </a:xfrm>
        </p:grpSpPr>
        <p:sp>
          <p:nvSpPr>
            <p:cNvPr id="3" name="AutoShape 3"/>
            <p:cNvSpPr/>
            <p:nvPr/>
          </p:nvSpPr>
          <p:spPr>
            <a:xfrm>
              <a:off x="718344" y="1318137"/>
              <a:ext cx="1461325" cy="416909"/>
            </a:xfrm>
            <a:custGeom>
              <a:avLst/>
              <a:gdLst/>
              <a:ahLst/>
              <a:cxnLst/>
              <a:rect l="l" t="t" r="r" b="b"/>
              <a:pathLst>
                <a:path w="1461325" h="416909">
                  <a:moveTo>
                    <a:pt x="1252918" y="0"/>
                  </a:moveTo>
                  <a:lnTo>
                    <a:pt x="1461325" y="208502"/>
                  </a:lnTo>
                  <a:lnTo>
                    <a:pt x="1252918" y="416909"/>
                  </a:lnTo>
                  <a:lnTo>
                    <a:pt x="1196530" y="360521"/>
                  </a:lnTo>
                  <a:lnTo>
                    <a:pt x="1348549" y="208502"/>
                  </a:lnTo>
                  <a:lnTo>
                    <a:pt x="1196530" y="56388"/>
                  </a:lnTo>
                  <a:close/>
                  <a:moveTo>
                    <a:pt x="1053465" y="0"/>
                  </a:moveTo>
                  <a:lnTo>
                    <a:pt x="1261967" y="208502"/>
                  </a:lnTo>
                  <a:lnTo>
                    <a:pt x="1053465" y="416909"/>
                  </a:lnTo>
                  <a:lnTo>
                    <a:pt x="997077" y="360521"/>
                  </a:lnTo>
                  <a:lnTo>
                    <a:pt x="1149096" y="208502"/>
                  </a:lnTo>
                  <a:lnTo>
                    <a:pt x="997077" y="56388"/>
                  </a:lnTo>
                  <a:close/>
                  <a:moveTo>
                    <a:pt x="854106" y="0"/>
                  </a:moveTo>
                  <a:lnTo>
                    <a:pt x="1062513" y="208502"/>
                  </a:lnTo>
                  <a:lnTo>
                    <a:pt x="854106" y="416909"/>
                  </a:lnTo>
                  <a:lnTo>
                    <a:pt x="797718" y="360521"/>
                  </a:lnTo>
                  <a:lnTo>
                    <a:pt x="949737" y="208502"/>
                  </a:lnTo>
                  <a:lnTo>
                    <a:pt x="797718" y="56388"/>
                  </a:lnTo>
                  <a:close/>
                  <a:moveTo>
                    <a:pt x="654653" y="0"/>
                  </a:moveTo>
                  <a:lnTo>
                    <a:pt x="863060" y="208502"/>
                  </a:lnTo>
                  <a:lnTo>
                    <a:pt x="654653" y="416909"/>
                  </a:lnTo>
                  <a:lnTo>
                    <a:pt x="598265" y="360521"/>
                  </a:lnTo>
                  <a:lnTo>
                    <a:pt x="750284" y="208502"/>
                  </a:lnTo>
                  <a:lnTo>
                    <a:pt x="598265" y="56388"/>
                  </a:lnTo>
                  <a:close/>
                  <a:moveTo>
                    <a:pt x="455294" y="0"/>
                  </a:moveTo>
                  <a:lnTo>
                    <a:pt x="663701" y="208502"/>
                  </a:lnTo>
                  <a:lnTo>
                    <a:pt x="455294" y="416909"/>
                  </a:lnTo>
                  <a:lnTo>
                    <a:pt x="398811" y="360521"/>
                  </a:lnTo>
                  <a:lnTo>
                    <a:pt x="550830" y="208502"/>
                  </a:lnTo>
                  <a:lnTo>
                    <a:pt x="398811" y="56388"/>
                  </a:lnTo>
                  <a:close/>
                  <a:moveTo>
                    <a:pt x="255841" y="0"/>
                  </a:moveTo>
                  <a:lnTo>
                    <a:pt x="464248" y="208502"/>
                  </a:lnTo>
                  <a:lnTo>
                    <a:pt x="255841" y="416909"/>
                  </a:lnTo>
                  <a:lnTo>
                    <a:pt x="199453" y="360521"/>
                  </a:lnTo>
                  <a:lnTo>
                    <a:pt x="351472" y="208502"/>
                  </a:lnTo>
                  <a:lnTo>
                    <a:pt x="199453" y="56388"/>
                  </a:lnTo>
                  <a:close/>
                  <a:moveTo>
                    <a:pt x="56388" y="0"/>
                  </a:moveTo>
                  <a:lnTo>
                    <a:pt x="264795" y="208502"/>
                  </a:lnTo>
                  <a:lnTo>
                    <a:pt x="56388" y="416909"/>
                  </a:lnTo>
                  <a:lnTo>
                    <a:pt x="0" y="360521"/>
                  </a:lnTo>
                  <a:lnTo>
                    <a:pt x="152019" y="208502"/>
                  </a:lnTo>
                  <a:lnTo>
                    <a:pt x="0" y="56388"/>
                  </a:lnTo>
                  <a:close/>
                </a:path>
              </a:pathLst>
            </a:custGeom>
            <a:solidFill>
              <a:srgbClr val="EAC0B8">
                <a:alpha val="10000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9862567" y="272746"/>
              <a:ext cx="1767228" cy="1244236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862567" y="429305"/>
              <a:ext cx="1767228" cy="0"/>
            </a:xfrm>
            <a:prstGeom prst="line">
              <a:avLst/>
            </a:prstGeom>
            <a:ln w="190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0239128" y="1285963"/>
              <a:ext cx="1056860" cy="61507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7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0050511" y="1128792"/>
              <a:ext cx="1434094" cy="61507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7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10212671" y="629410"/>
              <a:ext cx="267302" cy="269529"/>
            </a:xfrm>
            <a:prstGeom prst="ellipse">
              <a:avLst/>
            </a:prstGeom>
            <a:solidFill>
              <a:srgbClr val="947D65">
                <a:alpha val="10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0654833" y="629410"/>
              <a:ext cx="266188" cy="269529"/>
            </a:xfrm>
            <a:prstGeom prst="ellipse">
              <a:avLst/>
            </a:prstGeom>
            <a:solidFill>
              <a:srgbClr val="FFCE8E">
                <a:alpha val="10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11074720" y="629410"/>
              <a:ext cx="267302" cy="269529"/>
            </a:xfrm>
            <a:prstGeom prst="ellipse">
              <a:avLst/>
            </a:prstGeom>
            <a:solidFill>
              <a:srgbClr val="EAC0B8">
                <a:alpha val="10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660400" y="2125910"/>
              <a:ext cx="10858500" cy="3956957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660400" y="2623804"/>
              <a:ext cx="10858500" cy="0"/>
            </a:xfrm>
            <a:prstGeom prst="line">
              <a:avLst/>
            </a:prstGeom>
            <a:ln w="190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flipH="1">
              <a:off x="10746181" y="2317345"/>
              <a:ext cx="163077" cy="158750"/>
            </a:xfrm>
            <a:custGeom>
              <a:avLst/>
              <a:gdLst/>
              <a:ahLst/>
              <a:cxnLst/>
              <a:rect l="l" t="t" r="r" b="b"/>
              <a:pathLst>
                <a:path w="220906" h="221267">
                  <a:moveTo>
                    <a:pt x="0" y="0"/>
                  </a:moveTo>
                  <a:lnTo>
                    <a:pt x="220906" y="0"/>
                  </a:lnTo>
                  <a:lnTo>
                    <a:pt x="220906" y="221267"/>
                  </a:lnTo>
                  <a:lnTo>
                    <a:pt x="0" y="221267"/>
                  </a:lnTo>
                  <a:close/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 flipH="1">
              <a:off x="10368847" y="2397528"/>
              <a:ext cx="183063" cy="48442"/>
            </a:xfrm>
            <a:custGeom>
              <a:avLst/>
              <a:gdLst/>
              <a:ahLst/>
              <a:cxnLst/>
              <a:rect l="l" t="t" r="r" b="b"/>
              <a:pathLst>
                <a:path w="247978" h="36095">
                  <a:moveTo>
                    <a:pt x="0" y="0"/>
                  </a:moveTo>
                  <a:lnTo>
                    <a:pt x="247978" y="0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 flipH="1">
              <a:off x="11102825" y="2311467"/>
              <a:ext cx="154817" cy="164345"/>
            </a:xfrm>
            <a:custGeom>
              <a:avLst/>
              <a:gdLst/>
              <a:ahLst/>
              <a:cxnLst/>
              <a:rect l="l" t="t" r="r" b="b"/>
              <a:pathLst>
                <a:path w="209716" h="209716">
                  <a:moveTo>
                    <a:pt x="209717" y="0"/>
                  </a:moveTo>
                  <a:lnTo>
                    <a:pt x="0" y="209717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11098268" y="2311467"/>
              <a:ext cx="154817" cy="164345"/>
            </a:xfrm>
            <a:custGeom>
              <a:avLst/>
              <a:gdLst/>
              <a:ahLst/>
              <a:cxnLst/>
              <a:rect l="l" t="t" r="r" b="b"/>
              <a:pathLst>
                <a:path w="209716" h="209716">
                  <a:moveTo>
                    <a:pt x="209717" y="0"/>
                  </a:moveTo>
                  <a:lnTo>
                    <a:pt x="0" y="209717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11361420" y="5923115"/>
              <a:ext cx="555319" cy="505580"/>
            </a:xfrm>
            <a:custGeom>
              <a:avLst/>
              <a:gdLst/>
              <a:ahLst/>
              <a:cxnLst/>
              <a:rect l="l" t="t" r="r" b="b"/>
              <a:pathLst>
                <a:path w="555319" h="505580">
                  <a:moveTo>
                    <a:pt x="556558" y="97795"/>
                  </a:moveTo>
                  <a:lnTo>
                    <a:pt x="278902" y="49888"/>
                  </a:lnTo>
                  <a:lnTo>
                    <a:pt x="1239" y="1981"/>
                  </a:lnTo>
                  <a:lnTo>
                    <a:pt x="125702" y="254767"/>
                  </a:lnTo>
                  <a:lnTo>
                    <a:pt x="250165" y="507561"/>
                  </a:lnTo>
                  <a:lnTo>
                    <a:pt x="317160" y="312698"/>
                  </a:lnTo>
                  <a:lnTo>
                    <a:pt x="479212" y="433880"/>
                  </a:lnTo>
                  <a:lnTo>
                    <a:pt x="550630" y="338342"/>
                  </a:lnTo>
                  <a:lnTo>
                    <a:pt x="388585" y="217177"/>
                  </a:lnTo>
                  <a:lnTo>
                    <a:pt x="556558" y="97795"/>
                  </a:lnTo>
                  <a:close/>
                </a:path>
              </a:pathLst>
            </a:custGeom>
            <a:solidFill>
              <a:srgbClr val="EAC0B8">
                <a:alpha val="100000"/>
                <a:lumMod val="90000"/>
              </a:srgbClr>
            </a:solidFill>
            <a:ln w="254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317002" y="3226856"/>
              <a:ext cx="4910860" cy="1055692"/>
              <a:chOff x="1317002" y="3226856"/>
              <a:chExt cx="4910860" cy="1055692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317002" y="3226856"/>
                <a:ext cx="827315" cy="7694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4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357733" y="3248272"/>
                <a:ext cx="3870129" cy="10342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项目简介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561195" y="3207807"/>
              <a:ext cx="4823561" cy="1055692"/>
              <a:chOff x="6561195" y="3207807"/>
              <a:chExt cx="4823561" cy="1055692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61195" y="3207807"/>
                <a:ext cx="827315" cy="7694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4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14627" y="3229223"/>
                <a:ext cx="3870129" cy="10342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核心功能展示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317002" y="4583767"/>
              <a:ext cx="4910860" cy="1055692"/>
              <a:chOff x="1317002" y="4583767"/>
              <a:chExt cx="4910860" cy="1055692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1317002" y="4583767"/>
                <a:ext cx="827315" cy="7694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4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357733" y="4605183"/>
                <a:ext cx="3870129" cy="10342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技术原理说明</a:t>
                </a:r>
                <a:endParaRPr lang="en-US" sz="1100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561195" y="4583766"/>
              <a:ext cx="4823561" cy="1055692"/>
              <a:chOff x="6561195" y="4583766"/>
              <a:chExt cx="4823561" cy="1055692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561195" y="4583766"/>
                <a:ext cx="827315" cy="7694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4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514627" y="4605182"/>
                <a:ext cx="3870129" cy="10342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总结与展望</a:t>
                </a:r>
                <a:endParaRPr lang="en-US" sz="1100"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60400" y="311149"/>
            <a:ext cx="10858500" cy="7175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1186" y="1388614"/>
            <a:ext cx="7356928" cy="25443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项目简介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29915" y="4814388"/>
            <a:ext cx="7200900" cy="127963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本章节将介绍Python矢量图形编辑系统的核心功能与运行方式，帮助用户快速了解项目概览。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c1a733e-0804-4d8c-8370-7d8bbafd0475"/>
          <p:cNvGrpSpPr/>
          <p:nvPr/>
        </p:nvGrpSpPr>
        <p:grpSpPr>
          <a:xfrm>
            <a:off x="660400" y="1155858"/>
            <a:ext cx="10884122" cy="4892516"/>
            <a:chOff x="660400" y="1155858"/>
            <a:chExt cx="10884122" cy="4892516"/>
          </a:xfrm>
        </p:grpSpPr>
        <p:sp>
          <p:nvSpPr>
            <p:cNvPr id="3" name="AutoShape 3"/>
            <p:cNvSpPr/>
            <p:nvPr/>
          </p:nvSpPr>
          <p:spPr>
            <a:xfrm>
              <a:off x="2373488" y="3797311"/>
              <a:ext cx="0" cy="234950"/>
            </a:xfrm>
            <a:prstGeom prst="line">
              <a:avLst/>
            </a:prstGeom>
            <a:ln w="254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094375" y="4036747"/>
              <a:ext cx="0" cy="199242"/>
            </a:xfrm>
            <a:prstGeom prst="line">
              <a:avLst/>
            </a:prstGeom>
            <a:ln w="254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9720425" y="3837068"/>
              <a:ext cx="2096" cy="191051"/>
            </a:xfrm>
            <a:prstGeom prst="line">
              <a:avLst/>
            </a:prstGeom>
            <a:ln w="254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112329" y="1874785"/>
              <a:ext cx="940022" cy="268184"/>
            </a:xfrm>
            <a:custGeom>
              <a:avLst/>
              <a:gdLst/>
              <a:ahLst/>
              <a:cxnLst/>
              <a:rect l="l" t="t" r="r" b="b"/>
              <a:pathLst>
                <a:path w="1461325" h="416909">
                  <a:moveTo>
                    <a:pt x="1252918" y="0"/>
                  </a:moveTo>
                  <a:lnTo>
                    <a:pt x="1461325" y="208502"/>
                  </a:lnTo>
                  <a:lnTo>
                    <a:pt x="1252918" y="416909"/>
                  </a:lnTo>
                  <a:lnTo>
                    <a:pt x="1196530" y="360521"/>
                  </a:lnTo>
                  <a:lnTo>
                    <a:pt x="1348549" y="208502"/>
                  </a:lnTo>
                  <a:lnTo>
                    <a:pt x="1196530" y="56388"/>
                  </a:lnTo>
                  <a:close/>
                  <a:moveTo>
                    <a:pt x="1053465" y="0"/>
                  </a:moveTo>
                  <a:lnTo>
                    <a:pt x="1261967" y="208502"/>
                  </a:lnTo>
                  <a:lnTo>
                    <a:pt x="1053465" y="416909"/>
                  </a:lnTo>
                  <a:lnTo>
                    <a:pt x="997077" y="360521"/>
                  </a:lnTo>
                  <a:lnTo>
                    <a:pt x="1149096" y="208502"/>
                  </a:lnTo>
                  <a:lnTo>
                    <a:pt x="997077" y="56388"/>
                  </a:lnTo>
                  <a:close/>
                  <a:moveTo>
                    <a:pt x="854106" y="0"/>
                  </a:moveTo>
                  <a:lnTo>
                    <a:pt x="1062513" y="208502"/>
                  </a:lnTo>
                  <a:lnTo>
                    <a:pt x="854106" y="416909"/>
                  </a:lnTo>
                  <a:lnTo>
                    <a:pt x="797718" y="360521"/>
                  </a:lnTo>
                  <a:lnTo>
                    <a:pt x="949737" y="208502"/>
                  </a:lnTo>
                  <a:lnTo>
                    <a:pt x="797718" y="56388"/>
                  </a:lnTo>
                  <a:close/>
                  <a:moveTo>
                    <a:pt x="654653" y="0"/>
                  </a:moveTo>
                  <a:lnTo>
                    <a:pt x="863060" y="208502"/>
                  </a:lnTo>
                  <a:lnTo>
                    <a:pt x="654653" y="416909"/>
                  </a:lnTo>
                  <a:lnTo>
                    <a:pt x="598265" y="360521"/>
                  </a:lnTo>
                  <a:lnTo>
                    <a:pt x="750284" y="208502"/>
                  </a:lnTo>
                  <a:lnTo>
                    <a:pt x="598265" y="56388"/>
                  </a:lnTo>
                  <a:close/>
                  <a:moveTo>
                    <a:pt x="455294" y="0"/>
                  </a:moveTo>
                  <a:lnTo>
                    <a:pt x="663701" y="208502"/>
                  </a:lnTo>
                  <a:lnTo>
                    <a:pt x="455294" y="416909"/>
                  </a:lnTo>
                  <a:lnTo>
                    <a:pt x="398811" y="360521"/>
                  </a:lnTo>
                  <a:lnTo>
                    <a:pt x="550830" y="208502"/>
                  </a:lnTo>
                  <a:lnTo>
                    <a:pt x="398811" y="56388"/>
                  </a:lnTo>
                  <a:close/>
                  <a:moveTo>
                    <a:pt x="255841" y="0"/>
                  </a:moveTo>
                  <a:lnTo>
                    <a:pt x="464248" y="208502"/>
                  </a:lnTo>
                  <a:lnTo>
                    <a:pt x="255841" y="416909"/>
                  </a:lnTo>
                  <a:lnTo>
                    <a:pt x="199453" y="360521"/>
                  </a:lnTo>
                  <a:lnTo>
                    <a:pt x="351472" y="208502"/>
                  </a:lnTo>
                  <a:lnTo>
                    <a:pt x="199453" y="56388"/>
                  </a:lnTo>
                  <a:close/>
                  <a:moveTo>
                    <a:pt x="56388" y="0"/>
                  </a:moveTo>
                  <a:lnTo>
                    <a:pt x="264795" y="208502"/>
                  </a:lnTo>
                  <a:lnTo>
                    <a:pt x="56388" y="416909"/>
                  </a:lnTo>
                  <a:lnTo>
                    <a:pt x="0" y="360521"/>
                  </a:lnTo>
                  <a:lnTo>
                    <a:pt x="152019" y="208502"/>
                  </a:lnTo>
                  <a:lnTo>
                    <a:pt x="0" y="56388"/>
                  </a:lnTo>
                  <a:close/>
                </a:path>
              </a:pathLst>
            </a:custGeom>
            <a:solidFill>
              <a:srgbClr val="EAC0B8">
                <a:alpha val="10000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751072" y="3131369"/>
              <a:ext cx="3427774" cy="2917005"/>
              <a:chOff x="669937" y="3217094"/>
              <a:chExt cx="2407871" cy="2917005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669937" y="4162413"/>
                <a:ext cx="2407871" cy="69816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90000" rIns="91440" bIns="90000" rtlCol="0" anchor="b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核心目标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9937" y="4869204"/>
                <a:ext cx="2407871" cy="126489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108000" tIns="108000" rIns="108000" bIns="1080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提供一个使用Python标准库实现的矢量图形编辑解决方案，满足基础的图形绘制需求。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30087" y="3217094"/>
                <a:ext cx="2073050" cy="541918"/>
              </a:xfrm>
              <a:prstGeom prst="rect">
                <a:avLst/>
              </a:prstGeom>
              <a:solidFill>
                <a:srgbClr val="FFCE8E">
                  <a:alpha val="10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97381" y="4036747"/>
                <a:ext cx="1138461" cy="0"/>
              </a:xfrm>
              <a:prstGeom prst="line">
                <a:avLst/>
              </a:prstGeom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4469598" y="1943100"/>
              <a:ext cx="3258621" cy="2834807"/>
              <a:chOff x="3561915" y="1943100"/>
              <a:chExt cx="2289048" cy="2834807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3666729" y="4235989"/>
                <a:ext cx="2073050" cy="541918"/>
              </a:xfrm>
              <a:prstGeom prst="rect">
                <a:avLst/>
              </a:prstGeom>
              <a:solidFill>
                <a:srgbClr val="FFCE8E">
                  <a:alpha val="10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61915" y="1943100"/>
                <a:ext cx="2289048" cy="69816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90000" rIns="91440" bIns="90000" rtlCol="0" anchor="b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技术选型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61915" y="2649891"/>
                <a:ext cx="2289048" cy="126489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108000" tIns="108000" rIns="108000" bIns="1080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仅依赖Python内置的`tkinter`库进行图形界面开发，无需额外安装复杂依赖，易于部署和使用。</a:t>
                </a:r>
                <a:endParaRPr lang="en-US" sz="1100"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4134023" y="4036747"/>
                <a:ext cx="1138461" cy="0"/>
              </a:xfrm>
              <a:prstGeom prst="line">
                <a:avLst/>
              </a:prstGeom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8018971" y="3131369"/>
              <a:ext cx="3427774" cy="2917005"/>
              <a:chOff x="6343221" y="3217094"/>
              <a:chExt cx="2407871" cy="2917005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343221" y="4162413"/>
                <a:ext cx="2407871" cy="69816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90000" rIns="91440" bIns="90000" rtlCol="0" anchor="b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应用场景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343221" y="4869204"/>
                <a:ext cx="2407871" cy="126489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108000" tIns="108000" rIns="108000" bIns="1080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适用于教学演示、简单流程图绘制、电路草图设计等场景，为用户提供一个轻量级的绘图选择。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503371" y="3217094"/>
                <a:ext cx="2073050" cy="541918"/>
              </a:xfrm>
              <a:prstGeom prst="rect">
                <a:avLst/>
              </a:prstGeom>
              <a:solidFill>
                <a:srgbClr val="FFCE8E">
                  <a:alpha val="10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21" name="AutoShape 21"/>
              <p:cNvSpPr/>
              <p:nvPr/>
            </p:nvSpPr>
            <p:spPr>
              <a:xfrm>
                <a:off x="6970665" y="4036747"/>
                <a:ext cx="1138461" cy="0"/>
              </a:xfrm>
              <a:prstGeom prst="line">
                <a:avLst/>
              </a:prstGeom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60400" y="1155858"/>
              <a:ext cx="10884122" cy="66157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一款轻量级图形设计工具</a:t>
              </a:r>
              <a:endParaRPr lang="en-US" sz="1100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60400" y="311149"/>
            <a:ext cx="10858500" cy="7175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项目概述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4843fa3-7d56-4d6b-9916-6140c3431898"/>
          <p:cNvGrpSpPr/>
          <p:nvPr/>
        </p:nvGrpSpPr>
        <p:grpSpPr>
          <a:xfrm>
            <a:off x="647700" y="1038400"/>
            <a:ext cx="10795129" cy="5480085"/>
            <a:chOff x="647700" y="1038400"/>
            <a:chExt cx="10795129" cy="5480085"/>
          </a:xfrm>
        </p:grpSpPr>
        <p:sp>
          <p:nvSpPr>
            <p:cNvPr id="3" name="AutoShape 3"/>
            <p:cNvSpPr/>
            <p:nvPr/>
          </p:nvSpPr>
          <p:spPr>
            <a:xfrm>
              <a:off x="2406130" y="1038400"/>
              <a:ext cx="9036699" cy="4189420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606870" y="1470822"/>
              <a:ext cx="9378630" cy="4376426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606870" y="2106753"/>
              <a:ext cx="9378630" cy="0"/>
            </a:xfrm>
            <a:prstGeom prst="line">
              <a:avLst/>
            </a:prstGeom>
            <a:ln w="190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rot="10800000">
              <a:off x="2120747" y="2691698"/>
              <a:ext cx="2441027" cy="2441027"/>
            </a:xfrm>
            <a:prstGeom prst="pie">
              <a:avLst>
                <a:gd name="adj1" fmla="val 3600000"/>
                <a:gd name="adj2" fmla="val 10800000"/>
              </a:avLst>
            </a:prstGeom>
            <a:solidFill>
              <a:srgbClr val="EAC0B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rot="10800000">
              <a:off x="2120747" y="2691698"/>
              <a:ext cx="2441027" cy="2441027"/>
            </a:xfrm>
            <a:prstGeom prst="pie">
              <a:avLst>
                <a:gd name="adj1" fmla="val 3600000"/>
                <a:gd name="adj2" fmla="val 10800000"/>
              </a:avLst>
            </a:prstGeom>
            <a:solidFill>
              <a:srgbClr val="947D65">
                <a:alpha val="100000"/>
                <a:lumMod val="90000"/>
              </a:srgbClr>
            </a:solidFill>
            <a:ln w="2857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rot="3600000">
              <a:off x="2120745" y="2691698"/>
              <a:ext cx="2441027" cy="2441027"/>
            </a:xfrm>
            <a:prstGeom prst="pie">
              <a:avLst>
                <a:gd name="adj1" fmla="val 3600000"/>
                <a:gd name="adj2" fmla="val 10800000"/>
              </a:avLst>
            </a:prstGeom>
            <a:solidFill>
              <a:srgbClr val="EAC0B8">
                <a:alpha val="100000"/>
                <a:lumMod val="90000"/>
              </a:srgbClr>
            </a:solidFill>
            <a:ln w="2857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rot="18000000">
              <a:off x="2120747" y="2691698"/>
              <a:ext cx="2441027" cy="2441027"/>
            </a:xfrm>
            <a:prstGeom prst="pie">
              <a:avLst>
                <a:gd name="adj1" fmla="val 3600000"/>
                <a:gd name="adj2" fmla="val 10800000"/>
              </a:avLst>
            </a:prstGeom>
            <a:solidFill>
              <a:srgbClr val="CFE1D4">
                <a:alpha val="100000"/>
              </a:srgbClr>
            </a:solidFill>
            <a:ln w="2857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670086" y="1492696"/>
              <a:ext cx="595020" cy="558026"/>
            </a:xfrm>
            <a:prstGeom prst="roundRect">
              <a:avLst/>
            </a:prstGeom>
            <a:solidFill>
              <a:srgbClr val="EAC0B8">
                <a:alpha val="100000"/>
              </a:srgbClr>
            </a:solidFill>
            <a:ln w="254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765516" y="1583136"/>
              <a:ext cx="396708" cy="377145"/>
            </a:xfrm>
            <a:custGeom>
              <a:avLst/>
              <a:gdLst/>
              <a:ahLst/>
              <a:cxnLst/>
              <a:rect l="l" t="t" r="r" b="b"/>
              <a:pathLst>
                <a:path w="501" h="477">
                  <a:moveTo>
                    <a:pt x="491" y="207"/>
                  </a:moveTo>
                  <a:lnTo>
                    <a:pt x="390" y="305"/>
                  </a:lnTo>
                  <a:lnTo>
                    <a:pt x="414" y="444"/>
                  </a:lnTo>
                  <a:cubicBezTo>
                    <a:pt x="416" y="454"/>
                    <a:pt x="412" y="464"/>
                    <a:pt x="403" y="470"/>
                  </a:cubicBezTo>
                  <a:cubicBezTo>
                    <a:pt x="399" y="474"/>
                    <a:pt x="393" y="475"/>
                    <a:pt x="388" y="475"/>
                  </a:cubicBezTo>
                  <a:cubicBezTo>
                    <a:pt x="383" y="475"/>
                    <a:pt x="379" y="474"/>
                    <a:pt x="375" y="472"/>
                  </a:cubicBezTo>
                  <a:lnTo>
                    <a:pt x="251" y="407"/>
                  </a:lnTo>
                  <a:lnTo>
                    <a:pt x="126" y="472"/>
                  </a:lnTo>
                  <a:cubicBezTo>
                    <a:pt x="117" y="477"/>
                    <a:pt x="106" y="476"/>
                    <a:pt x="98" y="470"/>
                  </a:cubicBezTo>
                  <a:cubicBezTo>
                    <a:pt x="90" y="464"/>
                    <a:pt x="85" y="454"/>
                    <a:pt x="87" y="444"/>
                  </a:cubicBezTo>
                  <a:lnTo>
                    <a:pt x="111" y="305"/>
                  </a:lnTo>
                  <a:lnTo>
                    <a:pt x="10" y="207"/>
                  </a:lnTo>
                  <a:cubicBezTo>
                    <a:pt x="3" y="200"/>
                    <a:pt x="0" y="189"/>
                    <a:pt x="3" y="180"/>
                  </a:cubicBezTo>
                  <a:cubicBezTo>
                    <a:pt x="6" y="170"/>
                    <a:pt x="15" y="163"/>
                    <a:pt x="25" y="161"/>
                  </a:cubicBezTo>
                  <a:lnTo>
                    <a:pt x="164" y="141"/>
                  </a:lnTo>
                  <a:lnTo>
                    <a:pt x="227" y="15"/>
                  </a:lnTo>
                  <a:cubicBezTo>
                    <a:pt x="231" y="6"/>
                    <a:pt x="240" y="0"/>
                    <a:pt x="251" y="0"/>
                  </a:cubicBezTo>
                  <a:cubicBezTo>
                    <a:pt x="261" y="0"/>
                    <a:pt x="270" y="6"/>
                    <a:pt x="274" y="15"/>
                  </a:cubicBezTo>
                  <a:lnTo>
                    <a:pt x="337" y="141"/>
                  </a:lnTo>
                  <a:lnTo>
                    <a:pt x="476" y="161"/>
                  </a:lnTo>
                  <a:cubicBezTo>
                    <a:pt x="486" y="163"/>
                    <a:pt x="495" y="170"/>
                    <a:pt x="498" y="180"/>
                  </a:cubicBezTo>
                  <a:cubicBezTo>
                    <a:pt x="501" y="189"/>
                    <a:pt x="498" y="200"/>
                    <a:pt x="491" y="207"/>
                  </a:cubicBezTo>
                  <a:close/>
                </a:path>
              </a:pathLst>
            </a:custGeom>
            <a:solidFill>
              <a:srgbClr val="FFCE8E">
                <a:alpha val="100000"/>
                <a:lumMod val="9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651451" y="3265393"/>
              <a:ext cx="595020" cy="558026"/>
            </a:xfrm>
            <a:prstGeom prst="roundRect">
              <a:avLst/>
            </a:prstGeom>
            <a:solidFill>
              <a:srgbClr val="EAC0B8">
                <a:alpha val="100000"/>
              </a:srgbClr>
            </a:solidFill>
            <a:ln w="254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749171" y="3346327"/>
              <a:ext cx="396708" cy="396156"/>
            </a:xfrm>
            <a:custGeom>
              <a:avLst/>
              <a:gdLst/>
              <a:ahLst/>
              <a:cxnLst/>
              <a:rect l="l" t="t" r="r" b="b"/>
              <a:pathLst>
                <a:path w="3067" h="3067">
                  <a:moveTo>
                    <a:pt x="1533" y="0"/>
                  </a:moveTo>
                  <a:cubicBezTo>
                    <a:pt x="688" y="0"/>
                    <a:pt x="0" y="688"/>
                    <a:pt x="0" y="1533"/>
                  </a:cubicBezTo>
                  <a:cubicBezTo>
                    <a:pt x="0" y="2379"/>
                    <a:pt x="688" y="3067"/>
                    <a:pt x="1533" y="3067"/>
                  </a:cubicBezTo>
                  <a:cubicBezTo>
                    <a:pt x="2379" y="3067"/>
                    <a:pt x="3067" y="2379"/>
                    <a:pt x="3067" y="1533"/>
                  </a:cubicBezTo>
                  <a:cubicBezTo>
                    <a:pt x="3067" y="688"/>
                    <a:pt x="2379" y="0"/>
                    <a:pt x="1533" y="0"/>
                  </a:cubicBezTo>
                  <a:close/>
                  <a:moveTo>
                    <a:pt x="1533" y="2667"/>
                  </a:moveTo>
                  <a:cubicBezTo>
                    <a:pt x="908" y="2667"/>
                    <a:pt x="400" y="2158"/>
                    <a:pt x="400" y="1533"/>
                  </a:cubicBezTo>
                  <a:cubicBezTo>
                    <a:pt x="400" y="908"/>
                    <a:pt x="908" y="400"/>
                    <a:pt x="1533" y="400"/>
                  </a:cubicBezTo>
                  <a:cubicBezTo>
                    <a:pt x="2158" y="400"/>
                    <a:pt x="2667" y="908"/>
                    <a:pt x="2667" y="1533"/>
                  </a:cubicBezTo>
                  <a:cubicBezTo>
                    <a:pt x="2667" y="2158"/>
                    <a:pt x="2158" y="2667"/>
                    <a:pt x="1533" y="2667"/>
                  </a:cubicBezTo>
                  <a:close/>
                  <a:moveTo>
                    <a:pt x="1161" y="800"/>
                  </a:moveTo>
                  <a:lnTo>
                    <a:pt x="2226" y="1533"/>
                  </a:lnTo>
                  <a:lnTo>
                    <a:pt x="1161" y="2267"/>
                  </a:lnTo>
                  <a:lnTo>
                    <a:pt x="1161" y="800"/>
                  </a:lnTo>
                  <a:close/>
                </a:path>
              </a:pathLst>
            </a:custGeom>
            <a:solidFill>
              <a:srgbClr val="FFCE8E">
                <a:alpha val="100000"/>
                <a:lumMod val="9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647700" y="2379045"/>
              <a:ext cx="595020" cy="558026"/>
            </a:xfrm>
            <a:prstGeom prst="roundRect">
              <a:avLst/>
            </a:prstGeom>
            <a:solidFill>
              <a:srgbClr val="FFCE8E">
                <a:alpha val="100000"/>
                <a:lumMod val="90000"/>
              </a:srgbClr>
            </a:solidFill>
            <a:ln w="254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746856" y="2460003"/>
              <a:ext cx="396708" cy="396108"/>
            </a:xfrm>
            <a:custGeom>
              <a:avLst/>
              <a:gdLst/>
              <a:ahLst/>
              <a:cxnLst/>
              <a:rect l="l" t="t" r="r" b="b"/>
              <a:pathLst>
                <a:path w="7616" h="7616">
                  <a:moveTo>
                    <a:pt x="3808" y="7616"/>
                  </a:moveTo>
                  <a:cubicBezTo>
                    <a:pt x="5911" y="7616"/>
                    <a:pt x="7616" y="5911"/>
                    <a:pt x="7616" y="3808"/>
                  </a:cubicBezTo>
                  <a:cubicBezTo>
                    <a:pt x="7616" y="1705"/>
                    <a:pt x="5911" y="0"/>
                    <a:pt x="3808" y="0"/>
                  </a:cubicBezTo>
                  <a:cubicBezTo>
                    <a:pt x="1705" y="0"/>
                    <a:pt x="0" y="1705"/>
                    <a:pt x="0" y="3808"/>
                  </a:cubicBezTo>
                  <a:cubicBezTo>
                    <a:pt x="0" y="5911"/>
                    <a:pt x="1705" y="7616"/>
                    <a:pt x="3808" y="7616"/>
                  </a:cubicBezTo>
                  <a:close/>
                  <a:moveTo>
                    <a:pt x="2850" y="1910"/>
                  </a:moveTo>
                  <a:cubicBezTo>
                    <a:pt x="2850" y="1381"/>
                    <a:pt x="3278" y="952"/>
                    <a:pt x="3808" y="952"/>
                  </a:cubicBezTo>
                  <a:cubicBezTo>
                    <a:pt x="4338" y="952"/>
                    <a:pt x="4766" y="1381"/>
                    <a:pt x="4766" y="1910"/>
                  </a:cubicBezTo>
                  <a:lnTo>
                    <a:pt x="4766" y="5706"/>
                  </a:lnTo>
                  <a:cubicBezTo>
                    <a:pt x="4766" y="6235"/>
                    <a:pt x="4338" y="6664"/>
                    <a:pt x="3808" y="6664"/>
                  </a:cubicBezTo>
                  <a:cubicBezTo>
                    <a:pt x="3278" y="6664"/>
                    <a:pt x="2850" y="6235"/>
                    <a:pt x="2850" y="5706"/>
                  </a:cubicBezTo>
                  <a:lnTo>
                    <a:pt x="2850" y="1910"/>
                  </a:lnTo>
                  <a:close/>
                </a:path>
              </a:pathLst>
            </a:custGeom>
            <a:solidFill>
              <a:srgbClr val="EAC0B8">
                <a:alpha val="100000"/>
              </a:srgbClr>
            </a:solidFill>
            <a:ln w="190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10492895" y="5448847"/>
              <a:ext cx="42687" cy="59202"/>
            </a:xfrm>
            <a:custGeom>
              <a:avLst/>
              <a:gdLst/>
              <a:ahLst/>
              <a:cxnLst/>
              <a:rect l="l" t="t" r="r" b="b"/>
              <a:pathLst>
                <a:path w="42687" h="59202">
                  <a:moveTo>
                    <a:pt x="30052" y="61008"/>
                  </a:moveTo>
                  <a:lnTo>
                    <a:pt x="1135" y="53271"/>
                  </a:lnTo>
                  <a:lnTo>
                    <a:pt x="14913" y="1805"/>
                  </a:lnTo>
                  <a:lnTo>
                    <a:pt x="43822" y="9541"/>
                  </a:lnTo>
                  <a:lnTo>
                    <a:pt x="30052" y="61008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10492895" y="5448847"/>
              <a:ext cx="42687" cy="59202"/>
            </a:xfrm>
            <a:custGeom>
              <a:avLst/>
              <a:gdLst/>
              <a:ahLst/>
              <a:cxnLst/>
              <a:rect l="l" t="t" r="r" b="b"/>
              <a:pathLst>
                <a:path w="42687" h="59202">
                  <a:moveTo>
                    <a:pt x="30052" y="61008"/>
                  </a:moveTo>
                  <a:lnTo>
                    <a:pt x="1135" y="53271"/>
                  </a:lnTo>
                  <a:lnTo>
                    <a:pt x="14913" y="1805"/>
                  </a:lnTo>
                  <a:lnTo>
                    <a:pt x="43822" y="9541"/>
                  </a:lnTo>
                  <a:lnTo>
                    <a:pt x="30052" y="61008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10322976" y="5492431"/>
              <a:ext cx="58860" cy="58851"/>
            </a:xfrm>
            <a:custGeom>
              <a:avLst/>
              <a:gdLst/>
              <a:ahLst/>
              <a:cxnLst/>
              <a:rect l="l" t="t" r="r" b="b"/>
              <a:pathLst>
                <a:path w="58860" h="58851">
                  <a:moveTo>
                    <a:pt x="38784" y="60674"/>
                  </a:moveTo>
                  <a:lnTo>
                    <a:pt x="1072" y="22995"/>
                  </a:lnTo>
                  <a:lnTo>
                    <a:pt x="22228" y="1822"/>
                  </a:lnTo>
                  <a:lnTo>
                    <a:pt x="59932" y="39501"/>
                  </a:lnTo>
                  <a:lnTo>
                    <a:pt x="38784" y="60674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10279474" y="5662350"/>
              <a:ext cx="59234" cy="42711"/>
            </a:xfrm>
            <a:custGeom>
              <a:avLst/>
              <a:gdLst/>
              <a:ahLst/>
              <a:cxnLst/>
              <a:rect l="l" t="t" r="r" b="b"/>
              <a:pathLst>
                <a:path w="59234" h="42711">
                  <a:moveTo>
                    <a:pt x="8799" y="44597"/>
                  </a:moveTo>
                  <a:lnTo>
                    <a:pt x="1055" y="15688"/>
                  </a:lnTo>
                  <a:lnTo>
                    <a:pt x="52537" y="1885"/>
                  </a:lnTo>
                  <a:lnTo>
                    <a:pt x="60290" y="30786"/>
                  </a:lnTo>
                  <a:lnTo>
                    <a:pt x="8799" y="44597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10406266" y="5772521"/>
              <a:ext cx="42679" cy="59226"/>
            </a:xfrm>
            <a:custGeom>
              <a:avLst/>
              <a:gdLst/>
              <a:ahLst/>
              <a:cxnLst/>
              <a:rect l="l" t="t" r="r" b="b"/>
              <a:pathLst>
                <a:path w="42679" h="59226">
                  <a:moveTo>
                    <a:pt x="30010" y="61158"/>
                  </a:moveTo>
                  <a:lnTo>
                    <a:pt x="1101" y="53429"/>
                  </a:lnTo>
                  <a:lnTo>
                    <a:pt x="14863" y="1931"/>
                  </a:lnTo>
                  <a:lnTo>
                    <a:pt x="43780" y="9659"/>
                  </a:lnTo>
                  <a:lnTo>
                    <a:pt x="30010" y="61158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10559980" y="5729321"/>
              <a:ext cx="58868" cy="58835"/>
            </a:xfrm>
            <a:custGeom>
              <a:avLst/>
              <a:gdLst/>
              <a:ahLst/>
              <a:cxnLst/>
              <a:rect l="l" t="t" r="r" b="b"/>
              <a:pathLst>
                <a:path w="58868" h="58835">
                  <a:moveTo>
                    <a:pt x="38876" y="60750"/>
                  </a:moveTo>
                  <a:lnTo>
                    <a:pt x="1164" y="23095"/>
                  </a:lnTo>
                  <a:lnTo>
                    <a:pt x="22320" y="1914"/>
                  </a:lnTo>
                  <a:lnTo>
                    <a:pt x="60032" y="39569"/>
                  </a:lnTo>
                  <a:lnTo>
                    <a:pt x="38876" y="60750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10603099" y="5575526"/>
              <a:ext cx="59258" cy="42744"/>
            </a:xfrm>
            <a:custGeom>
              <a:avLst/>
              <a:gdLst/>
              <a:ahLst/>
              <a:cxnLst/>
              <a:rect l="l" t="t" r="r" b="b"/>
              <a:pathLst>
                <a:path w="59258" h="42744">
                  <a:moveTo>
                    <a:pt x="8949" y="44595"/>
                  </a:moveTo>
                  <a:lnTo>
                    <a:pt x="1181" y="15695"/>
                  </a:lnTo>
                  <a:lnTo>
                    <a:pt x="52679" y="1851"/>
                  </a:lnTo>
                  <a:lnTo>
                    <a:pt x="60440" y="30760"/>
                  </a:lnTo>
                  <a:lnTo>
                    <a:pt x="8949" y="44595"/>
                  </a:lnTo>
                  <a:close/>
                </a:path>
              </a:pathLst>
            </a:custGeom>
            <a:solidFill>
              <a:srgbClr val="1F293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10503970" y="5676902"/>
              <a:ext cx="555319" cy="505580"/>
            </a:xfrm>
            <a:custGeom>
              <a:avLst/>
              <a:gdLst/>
              <a:ahLst/>
              <a:cxnLst/>
              <a:rect l="l" t="t" r="r" b="b"/>
              <a:pathLst>
                <a:path w="555319" h="505580">
                  <a:moveTo>
                    <a:pt x="556558" y="97795"/>
                  </a:moveTo>
                  <a:lnTo>
                    <a:pt x="278902" y="49888"/>
                  </a:lnTo>
                  <a:lnTo>
                    <a:pt x="1239" y="1981"/>
                  </a:lnTo>
                  <a:lnTo>
                    <a:pt x="125702" y="254767"/>
                  </a:lnTo>
                  <a:lnTo>
                    <a:pt x="250165" y="507561"/>
                  </a:lnTo>
                  <a:lnTo>
                    <a:pt x="317160" y="312698"/>
                  </a:lnTo>
                  <a:lnTo>
                    <a:pt x="479212" y="433880"/>
                  </a:lnTo>
                  <a:lnTo>
                    <a:pt x="550630" y="338342"/>
                  </a:lnTo>
                  <a:lnTo>
                    <a:pt x="388585" y="217177"/>
                  </a:lnTo>
                  <a:lnTo>
                    <a:pt x="556558" y="977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54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647700" y="5274249"/>
              <a:ext cx="1767228" cy="1244236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647700" y="5430808"/>
              <a:ext cx="1767228" cy="0"/>
            </a:xfrm>
            <a:prstGeom prst="line">
              <a:avLst/>
            </a:prstGeom>
            <a:ln w="190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1024261" y="6287466"/>
              <a:ext cx="1056860" cy="61507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7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835644" y="6130295"/>
              <a:ext cx="1434094" cy="61507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7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997804" y="5630913"/>
              <a:ext cx="267302" cy="269529"/>
            </a:xfrm>
            <a:prstGeom prst="ellipse">
              <a:avLst/>
            </a:prstGeom>
            <a:solidFill>
              <a:srgbClr val="947D65">
                <a:alpha val="10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1439966" y="5630913"/>
              <a:ext cx="266188" cy="269529"/>
            </a:xfrm>
            <a:prstGeom prst="ellipse">
              <a:avLst/>
            </a:prstGeom>
            <a:solidFill>
              <a:srgbClr val="FFCE8E">
                <a:alpha val="10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1859853" y="5630913"/>
              <a:ext cx="267302" cy="269529"/>
            </a:xfrm>
            <a:prstGeom prst="ellipse">
              <a:avLst/>
            </a:prstGeom>
            <a:solidFill>
              <a:srgbClr val="EAC0B8">
                <a:alpha val="100000"/>
              </a:srgbClr>
            </a:solidFill>
            <a:ln w="2540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236715" y="2399337"/>
              <a:ext cx="2523876" cy="1505007"/>
              <a:chOff x="5236715" y="2399337"/>
              <a:chExt cx="2523876" cy="1505007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5236715" y="2399337"/>
                <a:ext cx="2523876" cy="49279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启动命令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236715" y="2950191"/>
                <a:ext cx="2523876" cy="9541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在终端中执行`python vector_editor.py`命令，即可启动矢量图形编辑程序。</a:t>
                </a:r>
                <a:endParaRPr lang="en-US" sz="11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8167490" y="2399337"/>
              <a:ext cx="2523876" cy="1505007"/>
              <a:chOff x="8167490" y="2399337"/>
              <a:chExt cx="2523876" cy="1505007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8167490" y="2399337"/>
                <a:ext cx="2523876" cy="49279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系统要求</a:t>
                </a:r>
                <a:endParaRPr lang="en-US" sz="1100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67490" y="2950191"/>
                <a:ext cx="2523876" cy="9541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由于使用标准库，对系统要求极低，通常安装Python后即可直接运行，无需额外配置。</a:t>
                </a:r>
                <a:endParaRPr lang="en-US" sz="1100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236715" y="3991429"/>
              <a:ext cx="2523876" cy="1505007"/>
              <a:chOff x="5236715" y="3991429"/>
              <a:chExt cx="2523876" cy="1505007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5236715" y="3991429"/>
                <a:ext cx="2523876" cy="49279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环境优势</a:t>
                </a:r>
                <a:endParaRPr lang="en-US" sz="1100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236715" y="4542283"/>
                <a:ext cx="2523876" cy="9541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不依赖第三方库，避免了版本冲突和安装问题，实现了“开箱即用”的便捷体验。</a:t>
                </a:r>
                <a:endParaRPr lang="en-US" sz="1100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784351" y="1517251"/>
              <a:ext cx="9080500" cy="56200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快速启动你的编辑之旅</a:t>
              </a:r>
              <a:endParaRPr lang="en-US" sz="1100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60400" y="311149"/>
            <a:ext cx="10858500" cy="7175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运行与依赖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1186" y="1388614"/>
            <a:ext cx="7356928" cy="25443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核心功能展示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29915" y="4814388"/>
            <a:ext cx="7200900" cy="127963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深入探索编辑器提供的丰富绘图工具与强大的编辑能力，体验高效图形创作的乐趣。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48b8db2-f442-4ce8-9c50-bd03b605e460"/>
          <p:cNvGrpSpPr/>
          <p:nvPr/>
        </p:nvGrpSpPr>
        <p:grpSpPr>
          <a:xfrm>
            <a:off x="660400" y="1130301"/>
            <a:ext cx="10858500" cy="4714300"/>
            <a:chOff x="660400" y="1130301"/>
            <a:chExt cx="10858500" cy="4714300"/>
          </a:xfrm>
        </p:grpSpPr>
        <p:grpSp>
          <p:nvGrpSpPr>
            <p:cNvPr id="3" name="Group 3"/>
            <p:cNvGrpSpPr/>
            <p:nvPr/>
          </p:nvGrpSpPr>
          <p:grpSpPr>
            <a:xfrm>
              <a:off x="660400" y="2279395"/>
              <a:ext cx="3066518" cy="3565206"/>
              <a:chOff x="660400" y="2279395"/>
              <a:chExt cx="3066518" cy="3565206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660400" y="2279395"/>
                <a:ext cx="3066518" cy="3565206"/>
              </a:xfrm>
              <a:prstGeom prst="roundRect">
                <a:avLst>
                  <a:gd name="adj" fmla="val 0"/>
                </a:avLst>
              </a:prstGeom>
              <a:solidFill>
                <a:srgbClr val="FFCE8E">
                  <a:alpha val="10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28240" y="3571978"/>
                <a:ext cx="2731824" cy="55802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几何图形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28240" y="4130003"/>
                <a:ext cx="2731824" cy="15976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支持绘制矩形、椭圆、直线等多种基础几何图形，是构建复杂图形的基本元素。</a:t>
                </a:r>
                <a:endParaRPr lang="en-US" sz="1100"/>
              </a:p>
            </p:txBody>
          </p:sp>
          <p:sp>
            <p:nvSpPr>
              <p:cNvPr id="7" name="AutoShape 7"/>
              <p:cNvSpPr/>
              <p:nvPr/>
            </p:nvSpPr>
            <p:spPr>
              <a:xfrm>
                <a:off x="1888858" y="2983107"/>
                <a:ext cx="595020" cy="558026"/>
              </a:xfrm>
              <a:prstGeom prst="roundRect">
                <a:avLst/>
              </a:prstGeom>
              <a:solidFill>
                <a:srgbClr val="EAC0B8">
                  <a:alpha val="100000"/>
                </a:srgbClr>
              </a:solidFill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1984288" y="3073547"/>
                <a:ext cx="396708" cy="37714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477">
                    <a:moveTo>
                      <a:pt x="491" y="207"/>
                    </a:moveTo>
                    <a:lnTo>
                      <a:pt x="390" y="305"/>
                    </a:lnTo>
                    <a:lnTo>
                      <a:pt x="414" y="444"/>
                    </a:lnTo>
                    <a:cubicBezTo>
                      <a:pt x="416" y="454"/>
                      <a:pt x="412" y="464"/>
                      <a:pt x="403" y="470"/>
                    </a:cubicBezTo>
                    <a:cubicBezTo>
                      <a:pt x="399" y="474"/>
                      <a:pt x="393" y="475"/>
                      <a:pt x="388" y="475"/>
                    </a:cubicBezTo>
                    <a:cubicBezTo>
                      <a:pt x="383" y="475"/>
                      <a:pt x="379" y="474"/>
                      <a:pt x="375" y="472"/>
                    </a:cubicBezTo>
                    <a:lnTo>
                      <a:pt x="251" y="407"/>
                    </a:lnTo>
                    <a:lnTo>
                      <a:pt x="126" y="472"/>
                    </a:lnTo>
                    <a:cubicBezTo>
                      <a:pt x="117" y="477"/>
                      <a:pt x="106" y="476"/>
                      <a:pt x="98" y="470"/>
                    </a:cubicBezTo>
                    <a:cubicBezTo>
                      <a:pt x="90" y="464"/>
                      <a:pt x="85" y="454"/>
                      <a:pt x="87" y="444"/>
                    </a:cubicBezTo>
                    <a:lnTo>
                      <a:pt x="111" y="305"/>
                    </a:lnTo>
                    <a:lnTo>
                      <a:pt x="10" y="207"/>
                    </a:lnTo>
                    <a:cubicBezTo>
                      <a:pt x="3" y="200"/>
                      <a:pt x="0" y="189"/>
                      <a:pt x="3" y="180"/>
                    </a:cubicBezTo>
                    <a:cubicBezTo>
                      <a:pt x="6" y="170"/>
                      <a:pt x="15" y="163"/>
                      <a:pt x="25" y="161"/>
                    </a:cubicBezTo>
                    <a:lnTo>
                      <a:pt x="164" y="141"/>
                    </a:lnTo>
                    <a:lnTo>
                      <a:pt x="227" y="15"/>
                    </a:lnTo>
                    <a:cubicBezTo>
                      <a:pt x="231" y="6"/>
                      <a:pt x="240" y="0"/>
                      <a:pt x="251" y="0"/>
                    </a:cubicBezTo>
                    <a:cubicBezTo>
                      <a:pt x="261" y="0"/>
                      <a:pt x="270" y="6"/>
                      <a:pt x="274" y="15"/>
                    </a:cubicBezTo>
                    <a:lnTo>
                      <a:pt x="337" y="141"/>
                    </a:lnTo>
                    <a:lnTo>
                      <a:pt x="476" y="161"/>
                    </a:lnTo>
                    <a:cubicBezTo>
                      <a:pt x="486" y="163"/>
                      <a:pt x="495" y="170"/>
                      <a:pt x="498" y="180"/>
                    </a:cubicBezTo>
                    <a:cubicBezTo>
                      <a:pt x="501" y="189"/>
                      <a:pt x="498" y="200"/>
                      <a:pt x="491" y="207"/>
                    </a:cubicBezTo>
                    <a:close/>
                  </a:path>
                </a:pathLst>
              </a:custGeom>
              <a:solidFill>
                <a:srgbClr val="FFCE8E">
                  <a:alpha val="100000"/>
                  <a:lumMod val="9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4547585" y="2279395"/>
              <a:ext cx="3066518" cy="3565206"/>
              <a:chOff x="4547585" y="2279395"/>
              <a:chExt cx="3066518" cy="3565206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4547585" y="2279395"/>
                <a:ext cx="3066518" cy="3565206"/>
              </a:xfrm>
              <a:prstGeom prst="roundRect">
                <a:avLst>
                  <a:gd name="adj" fmla="val 0"/>
                </a:avLst>
              </a:prstGeom>
              <a:solidFill>
                <a:srgbClr val="FFCE8E">
                  <a:alpha val="10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720563" y="4130003"/>
                <a:ext cx="2731824" cy="15976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提供流程判断框、开始/结束框、文档框等专用符号，便于快速创建业务流程图。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720563" y="3571978"/>
                <a:ext cx="2731824" cy="55802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流程图符号</a:t>
                </a:r>
                <a:endParaRPr lang="en-US" sz="1100"/>
              </a:p>
            </p:txBody>
          </p:sp>
          <p:sp>
            <p:nvSpPr>
              <p:cNvPr id="13" name="AutoShape 13"/>
              <p:cNvSpPr/>
              <p:nvPr/>
            </p:nvSpPr>
            <p:spPr>
              <a:xfrm>
                <a:off x="5798490" y="2983107"/>
                <a:ext cx="595020" cy="558026"/>
              </a:xfrm>
              <a:prstGeom prst="roundRect">
                <a:avLst/>
              </a:prstGeom>
              <a:solidFill>
                <a:srgbClr val="FFCE8E">
                  <a:alpha val="100000"/>
                  <a:lumMod val="90000"/>
                </a:srgbClr>
              </a:solidFill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5897646" y="3064065"/>
                <a:ext cx="396708" cy="396108"/>
              </a:xfrm>
              <a:custGeom>
                <a:avLst/>
                <a:gdLst/>
                <a:ahLst/>
                <a:cxnLst/>
                <a:rect l="l" t="t" r="r" b="b"/>
                <a:pathLst>
                  <a:path w="7616" h="7616">
                    <a:moveTo>
                      <a:pt x="3808" y="7616"/>
                    </a:moveTo>
                    <a:cubicBezTo>
                      <a:pt x="5911" y="7616"/>
                      <a:pt x="7616" y="5911"/>
                      <a:pt x="7616" y="3808"/>
                    </a:cubicBezTo>
                    <a:cubicBezTo>
                      <a:pt x="7616" y="1705"/>
                      <a:pt x="5911" y="0"/>
                      <a:pt x="3808" y="0"/>
                    </a:cubicBezTo>
                    <a:cubicBezTo>
                      <a:pt x="1705" y="0"/>
                      <a:pt x="0" y="1705"/>
                      <a:pt x="0" y="3808"/>
                    </a:cubicBezTo>
                    <a:cubicBezTo>
                      <a:pt x="0" y="5911"/>
                      <a:pt x="1705" y="7616"/>
                      <a:pt x="3808" y="7616"/>
                    </a:cubicBezTo>
                    <a:close/>
                    <a:moveTo>
                      <a:pt x="2850" y="1910"/>
                    </a:moveTo>
                    <a:cubicBezTo>
                      <a:pt x="2850" y="1381"/>
                      <a:pt x="3278" y="952"/>
                      <a:pt x="3808" y="952"/>
                    </a:cubicBezTo>
                    <a:cubicBezTo>
                      <a:pt x="4338" y="952"/>
                      <a:pt x="4766" y="1381"/>
                      <a:pt x="4766" y="1910"/>
                    </a:cubicBezTo>
                    <a:lnTo>
                      <a:pt x="4766" y="5706"/>
                    </a:lnTo>
                    <a:cubicBezTo>
                      <a:pt x="4766" y="6235"/>
                      <a:pt x="4338" y="6664"/>
                      <a:pt x="3808" y="6664"/>
                    </a:cubicBezTo>
                    <a:cubicBezTo>
                      <a:pt x="3278" y="6664"/>
                      <a:pt x="2850" y="6235"/>
                      <a:pt x="2850" y="5706"/>
                    </a:cubicBezTo>
                    <a:lnTo>
                      <a:pt x="2850" y="1910"/>
                    </a:lnTo>
                    <a:close/>
                  </a:path>
                </a:pathLst>
              </a:custGeom>
              <a:solidFill>
                <a:srgbClr val="EAC0B8">
                  <a:alpha val="100000"/>
                </a:srgbClr>
              </a:solidFill>
              <a:ln w="1905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8434770" y="2279395"/>
              <a:ext cx="3066518" cy="3565206"/>
              <a:chOff x="8434770" y="2279395"/>
              <a:chExt cx="3066518" cy="3565206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8434770" y="2279395"/>
                <a:ext cx="3066518" cy="3565206"/>
              </a:xfrm>
              <a:prstGeom prst="roundRect">
                <a:avLst>
                  <a:gd name="adj" fmla="val 0"/>
                </a:avLst>
              </a:prstGeom>
              <a:solidFill>
                <a:srgbClr val="FFCE8E">
                  <a:alpha val="10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607552" y="3571978"/>
                <a:ext cx="2731824" cy="55802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电路元件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607552" y="4130003"/>
                <a:ext cx="2731824" cy="15976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内置电阻、电容等常用电路元件符号，可轻松绘制简单的电子电路原理图。</a:t>
                </a:r>
                <a:endParaRPr lang="en-US" sz="1100"/>
              </a:p>
            </p:txBody>
          </p:sp>
          <p:sp>
            <p:nvSpPr>
              <p:cNvPr id="19" name="AutoShape 19"/>
              <p:cNvSpPr/>
              <p:nvPr/>
            </p:nvSpPr>
            <p:spPr>
              <a:xfrm>
                <a:off x="9670519" y="2983107"/>
                <a:ext cx="595020" cy="558026"/>
              </a:xfrm>
              <a:prstGeom prst="roundRect">
                <a:avLst/>
              </a:prstGeom>
              <a:solidFill>
                <a:srgbClr val="EAC0B8">
                  <a:alpha val="100000"/>
                </a:srgbClr>
              </a:solidFill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9768239" y="3064041"/>
                <a:ext cx="396708" cy="396156"/>
              </a:xfrm>
              <a:custGeom>
                <a:avLst/>
                <a:gdLst/>
                <a:ahLst/>
                <a:cxnLst/>
                <a:rect l="l" t="t" r="r" b="b"/>
                <a:pathLst>
                  <a:path w="3067" h="3067">
                    <a:moveTo>
                      <a:pt x="1533" y="0"/>
                    </a:moveTo>
                    <a:cubicBezTo>
                      <a:pt x="688" y="0"/>
                      <a:pt x="0" y="688"/>
                      <a:pt x="0" y="1533"/>
                    </a:cubicBezTo>
                    <a:cubicBezTo>
                      <a:pt x="0" y="2379"/>
                      <a:pt x="688" y="3067"/>
                      <a:pt x="1533" y="3067"/>
                    </a:cubicBezTo>
                    <a:cubicBezTo>
                      <a:pt x="2379" y="3067"/>
                      <a:pt x="3067" y="2379"/>
                      <a:pt x="3067" y="1533"/>
                    </a:cubicBezTo>
                    <a:cubicBezTo>
                      <a:pt x="3067" y="688"/>
                      <a:pt x="2379" y="0"/>
                      <a:pt x="1533" y="0"/>
                    </a:cubicBezTo>
                    <a:close/>
                    <a:moveTo>
                      <a:pt x="1533" y="2667"/>
                    </a:moveTo>
                    <a:cubicBezTo>
                      <a:pt x="908" y="2667"/>
                      <a:pt x="400" y="2158"/>
                      <a:pt x="400" y="1533"/>
                    </a:cubicBezTo>
                    <a:cubicBezTo>
                      <a:pt x="400" y="908"/>
                      <a:pt x="908" y="400"/>
                      <a:pt x="1533" y="400"/>
                    </a:cubicBezTo>
                    <a:cubicBezTo>
                      <a:pt x="2158" y="400"/>
                      <a:pt x="2667" y="908"/>
                      <a:pt x="2667" y="1533"/>
                    </a:cubicBezTo>
                    <a:cubicBezTo>
                      <a:pt x="2667" y="2158"/>
                      <a:pt x="2158" y="2667"/>
                      <a:pt x="1533" y="2667"/>
                    </a:cubicBezTo>
                    <a:close/>
                    <a:moveTo>
                      <a:pt x="1161" y="800"/>
                    </a:moveTo>
                    <a:lnTo>
                      <a:pt x="2226" y="1533"/>
                    </a:lnTo>
                    <a:lnTo>
                      <a:pt x="1161" y="2267"/>
                    </a:lnTo>
                    <a:lnTo>
                      <a:pt x="1161" y="800"/>
                    </a:lnTo>
                    <a:close/>
                  </a:path>
                </a:pathLst>
              </a:custGeom>
              <a:solidFill>
                <a:srgbClr val="FFCE8E">
                  <a:alpha val="100000"/>
                  <a:lumMod val="9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60400" y="1130301"/>
              <a:ext cx="10858500" cy="65712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满足多样化的绘图需求</a:t>
              </a:r>
              <a:endParaRPr lang="en-US" sz="1100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60400" y="311149"/>
            <a:ext cx="10858500" cy="7175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基础图形绘制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b55579a-0968-4c35-82ed-85dd27659b41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130300"/>
              <a:ext cx="12192000" cy="5727700"/>
              <a:chOff x="0" y="1130300"/>
              <a:chExt cx="12192000" cy="572770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0" y="1130300"/>
                <a:ext cx="12192000" cy="5727700"/>
              </a:xfrm>
              <a:prstGeom prst="rect">
                <a:avLst/>
              </a:prstGeom>
              <a:blipFill rotWithShape="1">
                <a:blip r:embed="rId3">
                  <a:alphaModFix/>
                  <a:alphaModFix/>
                </a:blip>
                <a:stretch>
                  <a:fillRect t="-18514" b="-23392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678569" y="3048000"/>
                <a:ext cx="10840330" cy="3086100"/>
              </a:xfrm>
              <a:prstGeom prst="roundRect">
                <a:avLst>
                  <a:gd name="adj" fmla="val 0"/>
                </a:avLst>
              </a:prstGeom>
              <a:solidFill>
                <a:srgbClr val="FFCE8E">
                  <a:alpha val="10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956064" y="3438982"/>
                <a:ext cx="595020" cy="558026"/>
              </a:xfrm>
              <a:prstGeom prst="roundRect">
                <a:avLst/>
              </a:prstGeom>
              <a:solidFill>
                <a:srgbClr val="FFCE8E">
                  <a:alpha val="100000"/>
                  <a:lumMod val="90000"/>
                </a:srgbClr>
              </a:solidFill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1055220" y="3519940"/>
                <a:ext cx="396708" cy="396108"/>
              </a:xfrm>
              <a:custGeom>
                <a:avLst/>
                <a:gdLst/>
                <a:ahLst/>
                <a:cxnLst/>
                <a:rect l="l" t="t" r="r" b="b"/>
                <a:pathLst>
                  <a:path w="7616" h="7616">
                    <a:moveTo>
                      <a:pt x="3808" y="7616"/>
                    </a:moveTo>
                    <a:cubicBezTo>
                      <a:pt x="5911" y="7616"/>
                      <a:pt x="7616" y="5911"/>
                      <a:pt x="7616" y="3808"/>
                    </a:cubicBezTo>
                    <a:cubicBezTo>
                      <a:pt x="7616" y="1705"/>
                      <a:pt x="5911" y="0"/>
                      <a:pt x="3808" y="0"/>
                    </a:cubicBezTo>
                    <a:cubicBezTo>
                      <a:pt x="1705" y="0"/>
                      <a:pt x="0" y="1705"/>
                      <a:pt x="0" y="3808"/>
                    </a:cubicBezTo>
                    <a:cubicBezTo>
                      <a:pt x="0" y="5911"/>
                      <a:pt x="1705" y="7616"/>
                      <a:pt x="3808" y="7616"/>
                    </a:cubicBezTo>
                    <a:close/>
                    <a:moveTo>
                      <a:pt x="2850" y="1910"/>
                    </a:moveTo>
                    <a:cubicBezTo>
                      <a:pt x="2850" y="1381"/>
                      <a:pt x="3278" y="952"/>
                      <a:pt x="3808" y="952"/>
                    </a:cubicBezTo>
                    <a:cubicBezTo>
                      <a:pt x="4338" y="952"/>
                      <a:pt x="4766" y="1381"/>
                      <a:pt x="4766" y="1910"/>
                    </a:cubicBezTo>
                    <a:lnTo>
                      <a:pt x="4766" y="5706"/>
                    </a:lnTo>
                    <a:cubicBezTo>
                      <a:pt x="4766" y="6235"/>
                      <a:pt x="4338" y="6664"/>
                      <a:pt x="3808" y="6664"/>
                    </a:cubicBezTo>
                    <a:cubicBezTo>
                      <a:pt x="3278" y="6664"/>
                      <a:pt x="2850" y="6235"/>
                      <a:pt x="2850" y="5706"/>
                    </a:cubicBezTo>
                    <a:lnTo>
                      <a:pt x="2850" y="1910"/>
                    </a:lnTo>
                    <a:close/>
                  </a:path>
                </a:pathLst>
              </a:custGeom>
              <a:solidFill>
                <a:srgbClr val="EAC0B8">
                  <a:alpha val="100000"/>
                </a:srgbClr>
              </a:solidFill>
              <a:ln w="1905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731142" y="3681358"/>
                <a:ext cx="4194628" cy="8545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支持在图元上添加、修改文本内容，并可自由调整字体大小，实现图文结合。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731142" y="3175084"/>
                <a:ext cx="4194628" cy="5078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文本编辑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60399" y="1325229"/>
              <a:ext cx="10689772" cy="3210716"/>
              <a:chOff x="660399" y="1325229"/>
              <a:chExt cx="10689772" cy="3210716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60399" y="1325229"/>
                <a:ext cx="6250809" cy="1307682"/>
              </a:xfrm>
              <a:prstGeom prst="roundRect">
                <a:avLst>
                  <a:gd name="adj" fmla="val 0"/>
                </a:avLst>
              </a:prstGeom>
              <a:solidFill>
                <a:srgbClr val="FFCE8E">
                  <a:alpha val="10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6419071" y="3438982"/>
                <a:ext cx="595020" cy="558026"/>
              </a:xfrm>
              <a:prstGeom prst="roundRect">
                <a:avLst/>
              </a:prstGeom>
              <a:solidFill>
                <a:srgbClr val="EAC0B8">
                  <a:alpha val="100000"/>
                </a:srgbClr>
              </a:solidFill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6514501" y="3519847"/>
                <a:ext cx="396708" cy="396294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2921">
                    <a:moveTo>
                      <a:pt x="2525" y="907"/>
                    </a:moveTo>
                    <a:lnTo>
                      <a:pt x="2749" y="684"/>
                    </a:lnTo>
                    <a:lnTo>
                      <a:pt x="2237" y="172"/>
                    </a:lnTo>
                    <a:lnTo>
                      <a:pt x="2013" y="395"/>
                    </a:lnTo>
                    <a:cubicBezTo>
                      <a:pt x="1953" y="363"/>
                      <a:pt x="1889" y="337"/>
                      <a:pt x="1822" y="316"/>
                    </a:cubicBezTo>
                    <a:lnTo>
                      <a:pt x="1822" y="0"/>
                    </a:lnTo>
                    <a:lnTo>
                      <a:pt x="1098" y="0"/>
                    </a:lnTo>
                    <a:lnTo>
                      <a:pt x="1098" y="316"/>
                    </a:lnTo>
                    <a:cubicBezTo>
                      <a:pt x="1032" y="337"/>
                      <a:pt x="968" y="363"/>
                      <a:pt x="907" y="395"/>
                    </a:cubicBezTo>
                    <a:lnTo>
                      <a:pt x="684" y="172"/>
                    </a:lnTo>
                    <a:lnTo>
                      <a:pt x="172" y="684"/>
                    </a:lnTo>
                    <a:lnTo>
                      <a:pt x="395" y="907"/>
                    </a:lnTo>
                    <a:cubicBezTo>
                      <a:pt x="363" y="968"/>
                      <a:pt x="337" y="1032"/>
                      <a:pt x="316" y="1098"/>
                    </a:cubicBezTo>
                    <a:lnTo>
                      <a:pt x="0" y="1098"/>
                    </a:lnTo>
                    <a:lnTo>
                      <a:pt x="0" y="1822"/>
                    </a:lnTo>
                    <a:lnTo>
                      <a:pt x="316" y="1822"/>
                    </a:lnTo>
                    <a:cubicBezTo>
                      <a:pt x="337" y="1889"/>
                      <a:pt x="363" y="1953"/>
                      <a:pt x="395" y="2013"/>
                    </a:cubicBezTo>
                    <a:lnTo>
                      <a:pt x="172" y="2237"/>
                    </a:lnTo>
                    <a:lnTo>
                      <a:pt x="684" y="2749"/>
                    </a:lnTo>
                    <a:lnTo>
                      <a:pt x="907" y="2525"/>
                    </a:lnTo>
                    <a:cubicBezTo>
                      <a:pt x="968" y="2557"/>
                      <a:pt x="1032" y="2584"/>
                      <a:pt x="1098" y="2605"/>
                    </a:cubicBezTo>
                    <a:lnTo>
                      <a:pt x="1098" y="2921"/>
                    </a:lnTo>
                    <a:lnTo>
                      <a:pt x="1822" y="2921"/>
                    </a:lnTo>
                    <a:lnTo>
                      <a:pt x="1822" y="2605"/>
                    </a:lnTo>
                    <a:cubicBezTo>
                      <a:pt x="1889" y="2584"/>
                      <a:pt x="1953" y="2557"/>
                      <a:pt x="2013" y="2525"/>
                    </a:cubicBezTo>
                    <a:lnTo>
                      <a:pt x="2237" y="2749"/>
                    </a:lnTo>
                    <a:lnTo>
                      <a:pt x="2749" y="2237"/>
                    </a:lnTo>
                    <a:lnTo>
                      <a:pt x="2525" y="2013"/>
                    </a:lnTo>
                    <a:cubicBezTo>
                      <a:pt x="2557" y="1953"/>
                      <a:pt x="2584" y="1889"/>
                      <a:pt x="2605" y="1822"/>
                    </a:cubicBezTo>
                    <a:lnTo>
                      <a:pt x="2920" y="1822"/>
                    </a:lnTo>
                    <a:lnTo>
                      <a:pt x="2920" y="1098"/>
                    </a:lnTo>
                    <a:lnTo>
                      <a:pt x="2605" y="1098"/>
                    </a:lnTo>
                    <a:cubicBezTo>
                      <a:pt x="2584" y="1032"/>
                      <a:pt x="2557" y="968"/>
                      <a:pt x="2525" y="907"/>
                    </a:cubicBezTo>
                    <a:close/>
                    <a:moveTo>
                      <a:pt x="1460" y="1971"/>
                    </a:moveTo>
                    <a:cubicBezTo>
                      <a:pt x="1178" y="1971"/>
                      <a:pt x="949" y="1742"/>
                      <a:pt x="949" y="1460"/>
                    </a:cubicBezTo>
                    <a:cubicBezTo>
                      <a:pt x="949" y="1178"/>
                      <a:pt x="1178" y="949"/>
                      <a:pt x="1460" y="949"/>
                    </a:cubicBezTo>
                    <a:cubicBezTo>
                      <a:pt x="1742" y="949"/>
                      <a:pt x="1971" y="1178"/>
                      <a:pt x="1971" y="1460"/>
                    </a:cubicBezTo>
                    <a:cubicBezTo>
                      <a:pt x="1971" y="1742"/>
                      <a:pt x="1742" y="1971"/>
                      <a:pt x="1460" y="1971"/>
                    </a:cubicBezTo>
                    <a:close/>
                  </a:path>
                </a:pathLst>
              </a:custGeom>
              <a:solidFill>
                <a:srgbClr val="FFCE8E">
                  <a:alpha val="100000"/>
                  <a:lumMod val="9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155543" y="3681358"/>
                <a:ext cx="4194628" cy="8545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提供对图元的选择、移动、复制、粘贴、删除等基本操作，支持批量处理。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155543" y="3175084"/>
                <a:ext cx="4194628" cy="5078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选择变换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959790" y="4633539"/>
              <a:ext cx="4965980" cy="1360861"/>
              <a:chOff x="959790" y="4633539"/>
              <a:chExt cx="4965980" cy="1360861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959790" y="5008928"/>
                <a:ext cx="595020" cy="558026"/>
              </a:xfrm>
              <a:prstGeom prst="roundRect">
                <a:avLst/>
              </a:prstGeom>
              <a:solidFill>
                <a:srgbClr val="EAC0B8">
                  <a:alpha val="100000"/>
                </a:srgbClr>
              </a:solidFill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1055220" y="5099368"/>
                <a:ext cx="396708" cy="37714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477">
                    <a:moveTo>
                      <a:pt x="491" y="207"/>
                    </a:moveTo>
                    <a:lnTo>
                      <a:pt x="390" y="305"/>
                    </a:lnTo>
                    <a:lnTo>
                      <a:pt x="414" y="444"/>
                    </a:lnTo>
                    <a:cubicBezTo>
                      <a:pt x="416" y="454"/>
                      <a:pt x="412" y="464"/>
                      <a:pt x="403" y="470"/>
                    </a:cubicBezTo>
                    <a:cubicBezTo>
                      <a:pt x="399" y="474"/>
                      <a:pt x="393" y="475"/>
                      <a:pt x="388" y="475"/>
                    </a:cubicBezTo>
                    <a:cubicBezTo>
                      <a:pt x="383" y="475"/>
                      <a:pt x="379" y="474"/>
                      <a:pt x="375" y="472"/>
                    </a:cubicBezTo>
                    <a:lnTo>
                      <a:pt x="251" y="407"/>
                    </a:lnTo>
                    <a:lnTo>
                      <a:pt x="126" y="472"/>
                    </a:lnTo>
                    <a:cubicBezTo>
                      <a:pt x="117" y="477"/>
                      <a:pt x="106" y="476"/>
                      <a:pt x="98" y="470"/>
                    </a:cubicBezTo>
                    <a:cubicBezTo>
                      <a:pt x="90" y="464"/>
                      <a:pt x="85" y="454"/>
                      <a:pt x="87" y="444"/>
                    </a:cubicBezTo>
                    <a:lnTo>
                      <a:pt x="111" y="305"/>
                    </a:lnTo>
                    <a:lnTo>
                      <a:pt x="10" y="207"/>
                    </a:lnTo>
                    <a:cubicBezTo>
                      <a:pt x="3" y="200"/>
                      <a:pt x="0" y="189"/>
                      <a:pt x="3" y="180"/>
                    </a:cubicBezTo>
                    <a:cubicBezTo>
                      <a:pt x="6" y="170"/>
                      <a:pt x="15" y="163"/>
                      <a:pt x="25" y="161"/>
                    </a:cubicBezTo>
                    <a:lnTo>
                      <a:pt x="164" y="141"/>
                    </a:lnTo>
                    <a:lnTo>
                      <a:pt x="227" y="15"/>
                    </a:lnTo>
                    <a:cubicBezTo>
                      <a:pt x="231" y="6"/>
                      <a:pt x="240" y="0"/>
                      <a:pt x="251" y="0"/>
                    </a:cubicBezTo>
                    <a:cubicBezTo>
                      <a:pt x="261" y="0"/>
                      <a:pt x="270" y="6"/>
                      <a:pt x="274" y="15"/>
                    </a:cubicBezTo>
                    <a:lnTo>
                      <a:pt x="337" y="141"/>
                    </a:lnTo>
                    <a:lnTo>
                      <a:pt x="476" y="161"/>
                    </a:lnTo>
                    <a:cubicBezTo>
                      <a:pt x="486" y="163"/>
                      <a:pt x="495" y="170"/>
                      <a:pt x="498" y="180"/>
                    </a:cubicBezTo>
                    <a:cubicBezTo>
                      <a:pt x="501" y="189"/>
                      <a:pt x="498" y="200"/>
                      <a:pt x="491" y="207"/>
                    </a:cubicBezTo>
                    <a:close/>
                  </a:path>
                </a:pathLst>
              </a:custGeom>
              <a:solidFill>
                <a:srgbClr val="FFCE8E">
                  <a:alpha val="100000"/>
                  <a:lumMod val="90000"/>
                </a:srgbClr>
              </a:solidFill>
              <a:ln w="222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731142" y="5139813"/>
                <a:ext cx="4194628" cy="8545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支持将图元置顶或置底，方便管理图形叠放顺序，打造富有层次的视觉效果。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31142" y="4633539"/>
                <a:ext cx="4194628" cy="5078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层级管理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415345" y="4633539"/>
              <a:ext cx="4934826" cy="1360861"/>
              <a:chOff x="6415345" y="4633539"/>
              <a:chExt cx="4934826" cy="1360861"/>
            </a:xfrm>
          </p:grpSpPr>
          <p:sp>
            <p:nvSpPr>
              <p:cNvPr id="22" name="AutoShape 22"/>
              <p:cNvSpPr/>
              <p:nvPr/>
            </p:nvSpPr>
            <p:spPr>
              <a:xfrm>
                <a:off x="6415345" y="5013782"/>
                <a:ext cx="595020" cy="558026"/>
              </a:xfrm>
              <a:prstGeom prst="roundRect">
                <a:avLst/>
              </a:prstGeom>
              <a:solidFill>
                <a:srgbClr val="FFCE8E">
                  <a:alpha val="100000"/>
                  <a:lumMod val="90000"/>
                </a:srgbClr>
              </a:solidFill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6525140" y="5094439"/>
                <a:ext cx="375428" cy="396708"/>
              </a:xfrm>
              <a:custGeom>
                <a:avLst/>
                <a:gdLst/>
                <a:ahLst/>
                <a:cxnLst/>
                <a:rect l="l" t="t" r="r" b="b"/>
                <a:pathLst>
                  <a:path w="4947" h="5235">
                    <a:moveTo>
                      <a:pt x="4947" y="129"/>
                    </a:moveTo>
                    <a:lnTo>
                      <a:pt x="4947" y="5104"/>
                    </a:lnTo>
                    <a:cubicBezTo>
                      <a:pt x="4947" y="5175"/>
                      <a:pt x="4890" y="5232"/>
                      <a:pt x="4819" y="5232"/>
                    </a:cubicBezTo>
                    <a:lnTo>
                      <a:pt x="129" y="5235"/>
                    </a:lnTo>
                    <a:cubicBezTo>
                      <a:pt x="58" y="5235"/>
                      <a:pt x="0" y="5177"/>
                      <a:pt x="0" y="5106"/>
                    </a:cubicBezTo>
                    <a:lnTo>
                      <a:pt x="0" y="3813"/>
                    </a:lnTo>
                    <a:cubicBezTo>
                      <a:pt x="0" y="3742"/>
                      <a:pt x="57" y="3684"/>
                      <a:pt x="129" y="3684"/>
                    </a:cubicBezTo>
                    <a:lnTo>
                      <a:pt x="873" y="3684"/>
                    </a:lnTo>
                    <a:cubicBezTo>
                      <a:pt x="912" y="3684"/>
                      <a:pt x="948" y="3703"/>
                      <a:pt x="971" y="3731"/>
                    </a:cubicBezTo>
                    <a:lnTo>
                      <a:pt x="971" y="3012"/>
                    </a:lnTo>
                    <a:cubicBezTo>
                      <a:pt x="971" y="2941"/>
                      <a:pt x="1029" y="2883"/>
                      <a:pt x="1100" y="2883"/>
                    </a:cubicBezTo>
                    <a:lnTo>
                      <a:pt x="1844" y="2883"/>
                    </a:lnTo>
                    <a:cubicBezTo>
                      <a:pt x="1915" y="2883"/>
                      <a:pt x="1973" y="2941"/>
                      <a:pt x="1973" y="3012"/>
                    </a:cubicBezTo>
                    <a:lnTo>
                      <a:pt x="1973" y="2096"/>
                    </a:lnTo>
                    <a:cubicBezTo>
                      <a:pt x="1973" y="2025"/>
                      <a:pt x="2030" y="1967"/>
                      <a:pt x="2102" y="1967"/>
                    </a:cubicBezTo>
                    <a:lnTo>
                      <a:pt x="2846" y="1967"/>
                    </a:lnTo>
                    <a:cubicBezTo>
                      <a:pt x="2885" y="1967"/>
                      <a:pt x="2921" y="1986"/>
                      <a:pt x="2944" y="2014"/>
                    </a:cubicBezTo>
                    <a:lnTo>
                      <a:pt x="2944" y="1295"/>
                    </a:lnTo>
                    <a:cubicBezTo>
                      <a:pt x="2944" y="1224"/>
                      <a:pt x="3002" y="1166"/>
                      <a:pt x="3073" y="1166"/>
                    </a:cubicBezTo>
                    <a:lnTo>
                      <a:pt x="3817" y="1166"/>
                    </a:lnTo>
                    <a:cubicBezTo>
                      <a:pt x="3888" y="1166"/>
                      <a:pt x="3946" y="1224"/>
                      <a:pt x="3946" y="1295"/>
                    </a:cubicBezTo>
                    <a:lnTo>
                      <a:pt x="3946" y="129"/>
                    </a:lnTo>
                    <a:cubicBezTo>
                      <a:pt x="3946" y="58"/>
                      <a:pt x="4004" y="0"/>
                      <a:pt x="4075" y="0"/>
                    </a:cubicBezTo>
                    <a:lnTo>
                      <a:pt x="4819" y="0"/>
                    </a:lnTo>
                    <a:cubicBezTo>
                      <a:pt x="4890" y="0"/>
                      <a:pt x="4947" y="58"/>
                      <a:pt x="4947" y="129"/>
                    </a:cubicBezTo>
                    <a:close/>
                  </a:path>
                </a:pathLst>
              </a:custGeom>
              <a:solidFill>
                <a:srgbClr val="EAC0B8">
                  <a:alpha val="100000"/>
                </a:srgbClr>
              </a:solidFill>
              <a:ln w="1905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155543" y="5139813"/>
                <a:ext cx="4194628" cy="8545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支持对图元进行旋转、缩放、水平镜像、垂直镜像操作，满足不同设计需求。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155543" y="4633539"/>
                <a:ext cx="4194628" cy="5078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图形变换</a:t>
                </a:r>
                <a:endParaRPr lang="en-US" sz="1100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840830" y="1472813"/>
              <a:ext cx="5850256" cy="105380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精细控制图形属性</a:t>
              </a:r>
              <a:endParaRPr lang="en-US" sz="1100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60400" y="311149"/>
            <a:ext cx="10858500" cy="7175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高级编辑能力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4e27f81-714b-4f86-b6fb-bd7b4d437173"/>
          <p:cNvGrpSpPr/>
          <p:nvPr/>
        </p:nvGrpSpPr>
        <p:grpSpPr>
          <a:xfrm>
            <a:off x="660400" y="1129034"/>
            <a:ext cx="10858500" cy="4907931"/>
            <a:chOff x="660400" y="1129034"/>
            <a:chExt cx="10858500" cy="4907931"/>
          </a:xfrm>
        </p:grpSpPr>
        <p:sp>
          <p:nvSpPr>
            <p:cNvPr id="3" name="AutoShape 3"/>
            <p:cNvSpPr/>
            <p:nvPr/>
          </p:nvSpPr>
          <p:spPr>
            <a:xfrm>
              <a:off x="678569" y="2077159"/>
              <a:ext cx="4922131" cy="3959806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78569" y="2575412"/>
              <a:ext cx="4922131" cy="0"/>
            </a:xfrm>
            <a:prstGeom prst="line">
              <a:avLst/>
            </a:prstGeom>
            <a:ln w="190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596769" y="2077159"/>
              <a:ext cx="4922131" cy="3959806"/>
            </a:xfrm>
            <a:prstGeom prst="roundRect">
              <a:avLst>
                <a:gd name="adj" fmla="val 0"/>
              </a:avLst>
            </a:prstGeom>
            <a:solidFill>
              <a:srgbClr val="FFCE8E">
                <a:alpha val="100000"/>
              </a:srgbClr>
            </a:solidFill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596769" y="2575412"/>
              <a:ext cx="4922131" cy="0"/>
            </a:xfrm>
            <a:prstGeom prst="line">
              <a:avLst/>
            </a:prstGeom>
            <a:ln w="190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4835239" y="2249850"/>
              <a:ext cx="163077" cy="158750"/>
            </a:xfrm>
            <a:custGeom>
              <a:avLst/>
              <a:gdLst/>
              <a:ahLst/>
              <a:cxnLst/>
              <a:rect l="l" t="t" r="r" b="b"/>
              <a:pathLst>
                <a:path w="220906" h="221267">
                  <a:moveTo>
                    <a:pt x="0" y="0"/>
                  </a:moveTo>
                  <a:lnTo>
                    <a:pt x="220906" y="0"/>
                  </a:lnTo>
                  <a:lnTo>
                    <a:pt x="220906" y="221267"/>
                  </a:lnTo>
                  <a:lnTo>
                    <a:pt x="0" y="221267"/>
                  </a:lnTo>
                  <a:close/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1">
              <a:off x="4457905" y="2330033"/>
              <a:ext cx="183063" cy="48442"/>
            </a:xfrm>
            <a:custGeom>
              <a:avLst/>
              <a:gdLst/>
              <a:ahLst/>
              <a:cxnLst/>
              <a:rect l="l" t="t" r="r" b="b"/>
              <a:pathLst>
                <a:path w="247978" h="36095">
                  <a:moveTo>
                    <a:pt x="0" y="0"/>
                  </a:moveTo>
                  <a:lnTo>
                    <a:pt x="247978" y="0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H="1">
              <a:off x="5191883" y="2243972"/>
              <a:ext cx="154817" cy="164345"/>
            </a:xfrm>
            <a:custGeom>
              <a:avLst/>
              <a:gdLst/>
              <a:ahLst/>
              <a:cxnLst/>
              <a:rect l="l" t="t" r="r" b="b"/>
              <a:pathLst>
                <a:path w="209716" h="209716">
                  <a:moveTo>
                    <a:pt x="209717" y="0"/>
                  </a:moveTo>
                  <a:lnTo>
                    <a:pt x="0" y="209717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5187326" y="2243972"/>
              <a:ext cx="154817" cy="164345"/>
            </a:xfrm>
            <a:custGeom>
              <a:avLst/>
              <a:gdLst/>
              <a:ahLst/>
              <a:cxnLst/>
              <a:rect l="l" t="t" r="r" b="b"/>
              <a:pathLst>
                <a:path w="209716" h="209716">
                  <a:moveTo>
                    <a:pt x="209717" y="0"/>
                  </a:moveTo>
                  <a:lnTo>
                    <a:pt x="0" y="209717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H="1">
              <a:off x="10766139" y="2249850"/>
              <a:ext cx="163077" cy="158750"/>
            </a:xfrm>
            <a:custGeom>
              <a:avLst/>
              <a:gdLst/>
              <a:ahLst/>
              <a:cxnLst/>
              <a:rect l="l" t="t" r="r" b="b"/>
              <a:pathLst>
                <a:path w="220906" h="221267">
                  <a:moveTo>
                    <a:pt x="0" y="0"/>
                  </a:moveTo>
                  <a:lnTo>
                    <a:pt x="220906" y="0"/>
                  </a:lnTo>
                  <a:lnTo>
                    <a:pt x="220906" y="221267"/>
                  </a:lnTo>
                  <a:lnTo>
                    <a:pt x="0" y="221267"/>
                  </a:lnTo>
                  <a:close/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flipH="1">
              <a:off x="10388805" y="2330033"/>
              <a:ext cx="183063" cy="48442"/>
            </a:xfrm>
            <a:custGeom>
              <a:avLst/>
              <a:gdLst/>
              <a:ahLst/>
              <a:cxnLst/>
              <a:rect l="l" t="t" r="r" b="b"/>
              <a:pathLst>
                <a:path w="247978" h="36095">
                  <a:moveTo>
                    <a:pt x="0" y="0"/>
                  </a:moveTo>
                  <a:lnTo>
                    <a:pt x="247978" y="0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flipH="1">
              <a:off x="11122783" y="2243972"/>
              <a:ext cx="154817" cy="164345"/>
            </a:xfrm>
            <a:custGeom>
              <a:avLst/>
              <a:gdLst/>
              <a:ahLst/>
              <a:cxnLst/>
              <a:rect l="l" t="t" r="r" b="b"/>
              <a:pathLst>
                <a:path w="209716" h="209716">
                  <a:moveTo>
                    <a:pt x="209717" y="0"/>
                  </a:moveTo>
                  <a:lnTo>
                    <a:pt x="0" y="209717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11118226" y="2243972"/>
              <a:ext cx="154817" cy="164345"/>
            </a:xfrm>
            <a:custGeom>
              <a:avLst/>
              <a:gdLst/>
              <a:ahLst/>
              <a:cxnLst/>
              <a:rect l="l" t="t" r="r" b="b"/>
              <a:pathLst>
                <a:path w="209716" h="209716">
                  <a:moveTo>
                    <a:pt x="209717" y="0"/>
                  </a:moveTo>
                  <a:lnTo>
                    <a:pt x="0" y="209717"/>
                  </a:lnTo>
                </a:path>
              </a:pathLst>
            </a:custGeom>
            <a:ln w="36059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79839" y="2798926"/>
              <a:ext cx="4277961" cy="3093874"/>
              <a:chOff x="979839" y="2798926"/>
              <a:chExt cx="4277961" cy="3093874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79839" y="4691638"/>
                <a:ext cx="4277961" cy="120116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所有图形以JSON格式保存，文件记录的是矢量数据而非位图，方便后续重新加载继续编辑。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9839" y="4102100"/>
                <a:ext cx="4277961" cy="5895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矢量数据保存</a:t>
                </a:r>
                <a:endParaRPr lang="en-US" sz="1100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979839" y="2798926"/>
                <a:ext cx="4277961" cy="1202838"/>
              </a:xfrm>
              <a:prstGeom prst="rect">
                <a:avLst/>
              </a:prstGeom>
              <a:blipFill rotWithShape="1">
                <a:blip r:embed="rId3">
                  <a:alphaModFix/>
                  <a:alphaModFix/>
                </a:blip>
                <a:stretch>
                  <a:fillRect t="-69230" b="-67781"/>
                </a:stretch>
              </a:blipFill>
              <a:ln w="349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6934200" y="2798926"/>
              <a:ext cx="4277961" cy="3093874"/>
              <a:chOff x="6934200" y="2798926"/>
              <a:chExt cx="4277961" cy="3093874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934201" y="4691638"/>
                <a:ext cx="4276046" cy="120116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支持将当前画布内容保存为PNG图片文件，便于在报告、演示文稿等场景中进行展示。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934201" y="4102100"/>
                <a:ext cx="4276046" cy="5895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位图快照导出</a:t>
                </a:r>
                <a:endParaRPr lang="en-US" sz="1100"/>
              </a:p>
            </p:txBody>
          </p:sp>
          <p:sp>
            <p:nvSpPr>
              <p:cNvPr id="22" name="AutoShape 22"/>
              <p:cNvSpPr/>
              <p:nvPr/>
            </p:nvSpPr>
            <p:spPr>
              <a:xfrm>
                <a:off x="6934200" y="2798926"/>
                <a:ext cx="4277961" cy="1202838"/>
              </a:xfrm>
              <a:prstGeom prst="rect">
                <a:avLst/>
              </a:prstGeom>
              <a:blipFill rotWithShape="1">
                <a:blip r:embed="rId4">
                  <a:alphaModFix/>
                  <a:alphaModFix/>
                </a:blip>
                <a:stretch>
                  <a:fillRect t="-69184" b="-67735"/>
                </a:stretch>
              </a:blipFill>
              <a:ln w="34925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660400" y="1129034"/>
              <a:ext cx="10858500" cy="52814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便捷保存与分享作品</a:t>
              </a:r>
              <a:endParaRPr lang="en-US" sz="110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60400" y="311149"/>
            <a:ext cx="10858500" cy="7175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文件操作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1186" y="1388614"/>
            <a:ext cx="7356928" cy="25443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技术原理说明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29915" y="4814388"/>
            <a:ext cx="7200900" cy="127963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揭秘编辑器背后的数据结构与曲线操作的核心逻辑，理解其矢量编辑的实现方式。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d3dd34b-3042-4390-b8b0-a92a322e9702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720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可复用的矢量数据模型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824173" y="2106598"/>
              <a:ext cx="4711702" cy="1885602"/>
              <a:chOff x="6760400" y="2831996"/>
              <a:chExt cx="2915195" cy="1885602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7323780" y="2831996"/>
                <a:ext cx="2351815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图元字典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323777" y="3479996"/>
                <a:ext cx="2351815" cy="1237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每个图元在程序内部均表示为一个Python字典（dict），结构清晰，易于扩展。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760400" y="3055998"/>
                <a:ext cx="549973" cy="468000"/>
              </a:xfrm>
              <a:prstGeom prst="rect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0" tIns="0" rIns="0" bIns="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6643425" y="2106598"/>
              <a:ext cx="4711702" cy="1885602"/>
              <a:chOff x="6760400" y="2831996"/>
              <a:chExt cx="2915195" cy="188560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7323780" y="2831996"/>
                <a:ext cx="2351815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关键字段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323777" y="3479996"/>
                <a:ext cx="2351815" cy="1237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字典中包含`type`、`x`、`y`、`w`、`h`等关键字段，定义了图元的类型、位置和尺寸。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760400" y="3055998"/>
                <a:ext cx="549973" cy="468000"/>
              </a:xfrm>
              <a:prstGeom prst="rect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0" tIns="0" rIns="0" bIns="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24175" y="4248498"/>
              <a:ext cx="4711702" cy="1885602"/>
              <a:chOff x="6760400" y="2831996"/>
              <a:chExt cx="2915195" cy="1885602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323780" y="2831996"/>
                <a:ext cx="2351815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扩展属性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323777" y="3479996"/>
                <a:ext cx="2351815" cy="1237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根据图元类型，额外保存如`rotation`（旋转角度）、`text`（文本内容）等特定属性。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760400" y="3055998"/>
                <a:ext cx="549973" cy="468000"/>
              </a:xfrm>
              <a:prstGeom prst="rect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0" tIns="0" rIns="0" bIns="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643425" y="4248498"/>
              <a:ext cx="4711702" cy="1885602"/>
              <a:chOff x="6760400" y="2831996"/>
              <a:chExt cx="2915195" cy="1885602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7323780" y="2831996"/>
                <a:ext cx="2351815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曲线数据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323777" y="3479996"/>
                <a:ext cx="2351815" cy="1237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曲线图元会额外保存`control`控制点信息，自由曲线则保存`points`点数组，确保精确还原。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760400" y="3055998"/>
                <a:ext cx="549973" cy="468000"/>
              </a:xfrm>
              <a:prstGeom prst="rect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0" tIns="0" rIns="0" bIns="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311149"/>
            <a:ext cx="10858500" cy="7175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数据结构设计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f38c380-1f54-4563-8be0-25dd9406068d"/>
          <p:cNvGrpSpPr/>
          <p:nvPr/>
        </p:nvGrpSpPr>
        <p:grpSpPr>
          <a:xfrm>
            <a:off x="660400" y="1130299"/>
            <a:ext cx="11116631" cy="5003801"/>
            <a:chOff x="660400" y="1130299"/>
            <a:chExt cx="11116631" cy="5003801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299"/>
              <a:ext cx="10858500" cy="9001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掌握曲线绘制与调整技巧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2833892" y="2760429"/>
              <a:ext cx="2299068" cy="770745"/>
            </a:xfrm>
            <a:custGeom>
              <a:avLst/>
              <a:gdLst/>
              <a:ahLst/>
              <a:cxnLst/>
              <a:rect l="l" t="t" r="r" b="b"/>
              <a:pathLst>
                <a:path w="1854200" h="687748">
                  <a:moveTo>
                    <a:pt x="0" y="170554"/>
                  </a:moveTo>
                  <a:cubicBezTo>
                    <a:pt x="234950" y="59076"/>
                    <a:pt x="469900" y="-52401"/>
                    <a:pt x="685800" y="26621"/>
                  </a:cubicBezTo>
                  <a:cubicBezTo>
                    <a:pt x="901700" y="105643"/>
                    <a:pt x="1100667" y="543088"/>
                    <a:pt x="1295400" y="644688"/>
                  </a:cubicBezTo>
                  <a:cubicBezTo>
                    <a:pt x="1490133" y="746288"/>
                    <a:pt x="1854200" y="636221"/>
                    <a:pt x="1854200" y="636221"/>
                  </a:cubicBezTo>
                </a:path>
              </a:pathLst>
            </a:custGeom>
            <a:ln w="12700">
              <a:solidFill>
                <a:srgbClr val="D8BFCC">
                  <a:alpha val="100000"/>
                </a:srgbClr>
              </a:solidFill>
              <a:prstDash val="solid"/>
              <a:headEnd type="oval"/>
              <a:tailEnd type="oval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8368386" y="2760429"/>
              <a:ext cx="128343" cy="196984"/>
            </a:xfrm>
            <a:custGeom>
              <a:avLst/>
              <a:gdLst/>
              <a:ahLst/>
              <a:cxnLst/>
              <a:rect l="l" t="t" r="r" b="b"/>
              <a:pathLst>
                <a:path w="128576" h="197343">
                  <a:moveTo>
                    <a:pt x="129967" y="102962"/>
                  </a:moveTo>
                  <a:cubicBezTo>
                    <a:pt x="99438" y="72173"/>
                    <a:pt x="86217" y="40793"/>
                    <a:pt x="78276" y="608"/>
                  </a:cubicBezTo>
                  <a:cubicBezTo>
                    <a:pt x="61530" y="33757"/>
                    <a:pt x="35677" y="65809"/>
                    <a:pt x="1390" y="88109"/>
                  </a:cubicBezTo>
                  <a:cubicBezTo>
                    <a:pt x="22374" y="113249"/>
                    <a:pt x="49584" y="153954"/>
                    <a:pt x="55235" y="197952"/>
                  </a:cubicBezTo>
                  <a:cubicBezTo>
                    <a:pt x="74628" y="155079"/>
                    <a:pt x="101495" y="122588"/>
                    <a:pt x="129967" y="102962"/>
                  </a:cubicBezTo>
                  <a:close/>
                </a:path>
              </a:pathLst>
            </a:custGeom>
            <a:solidFill>
              <a:srgbClr val="D8BFCC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287153" y="2707501"/>
              <a:ext cx="2477840" cy="770745"/>
            </a:xfrm>
            <a:custGeom>
              <a:avLst/>
              <a:gdLst/>
              <a:ahLst/>
              <a:cxnLst/>
              <a:rect l="l" t="t" r="r" b="b"/>
              <a:pathLst>
                <a:path w="1854200" h="687748">
                  <a:moveTo>
                    <a:pt x="0" y="170554"/>
                  </a:moveTo>
                  <a:cubicBezTo>
                    <a:pt x="234950" y="59076"/>
                    <a:pt x="469900" y="-52401"/>
                    <a:pt x="685800" y="26621"/>
                  </a:cubicBezTo>
                  <a:cubicBezTo>
                    <a:pt x="901700" y="105643"/>
                    <a:pt x="1100667" y="543088"/>
                    <a:pt x="1295400" y="644688"/>
                  </a:cubicBezTo>
                  <a:cubicBezTo>
                    <a:pt x="1490133" y="746288"/>
                    <a:pt x="1854200" y="636221"/>
                    <a:pt x="1854200" y="636221"/>
                  </a:cubicBezTo>
                </a:path>
              </a:pathLst>
            </a:custGeom>
            <a:ln w="12700">
              <a:solidFill>
                <a:srgbClr val="D8BFCC">
                  <a:alpha val="100000"/>
                </a:srgbClr>
              </a:solidFill>
              <a:prstDash val="solid"/>
              <a:headEnd type="oval"/>
              <a:tailEnd type="oval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858699" y="2760429"/>
              <a:ext cx="3015284" cy="3373671"/>
              <a:chOff x="484128" y="2760429"/>
              <a:chExt cx="3015284" cy="3373671"/>
            </a:xfrm>
          </p:grpSpPr>
          <p:sp>
            <p:nvSpPr>
              <p:cNvPr id="8" name="AutoShape 8"/>
              <p:cNvSpPr/>
              <p:nvPr/>
            </p:nvSpPr>
            <p:spPr>
              <a:xfrm flipH="1">
                <a:off x="1092686" y="2760429"/>
                <a:ext cx="128343" cy="196984"/>
              </a:xfrm>
              <a:custGeom>
                <a:avLst/>
                <a:gdLst/>
                <a:ahLst/>
                <a:cxnLst/>
                <a:rect l="l" t="t" r="r" b="b"/>
                <a:pathLst>
                  <a:path w="128576" h="197343">
                    <a:moveTo>
                      <a:pt x="129967" y="102962"/>
                    </a:moveTo>
                    <a:cubicBezTo>
                      <a:pt x="99438" y="72173"/>
                      <a:pt x="86217" y="40793"/>
                      <a:pt x="78276" y="608"/>
                    </a:cubicBezTo>
                    <a:cubicBezTo>
                      <a:pt x="61530" y="33757"/>
                      <a:pt x="35677" y="65809"/>
                      <a:pt x="1390" y="88109"/>
                    </a:cubicBezTo>
                    <a:cubicBezTo>
                      <a:pt x="22374" y="113249"/>
                      <a:pt x="49584" y="153954"/>
                      <a:pt x="55235" y="197952"/>
                    </a:cubicBezTo>
                    <a:cubicBezTo>
                      <a:pt x="74628" y="155079"/>
                      <a:pt x="101495" y="122588"/>
                      <a:pt x="129967" y="102962"/>
                    </a:cubicBezTo>
                    <a:close/>
                  </a:path>
                </a:pathLst>
              </a:custGeom>
              <a:solidFill>
                <a:srgbClr val="D8BFC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484128" y="2876718"/>
                <a:ext cx="3015284" cy="3257382"/>
                <a:chOff x="484128" y="2876718"/>
                <a:chExt cx="3015284" cy="3257382"/>
              </a:xfrm>
            </p:grpSpPr>
            <p:sp>
              <p:nvSpPr>
                <p:cNvPr id="10" name="AutoShape 10"/>
                <p:cNvSpPr/>
                <p:nvPr/>
              </p:nvSpPr>
              <p:spPr>
                <a:xfrm>
                  <a:off x="1126356" y="2876718"/>
                  <a:ext cx="1558865" cy="93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861" h="930025">
                      <a:moveTo>
                        <a:pt x="841305" y="96"/>
                      </a:moveTo>
                      <a:cubicBezTo>
                        <a:pt x="941185" y="-1146"/>
                        <a:pt x="1040286" y="9648"/>
                        <a:pt x="1135403" y="39966"/>
                      </a:cubicBezTo>
                      <a:cubicBezTo>
                        <a:pt x="1287914" y="88582"/>
                        <a:pt x="1430587" y="196623"/>
                        <a:pt x="1496250" y="345501"/>
                      </a:cubicBezTo>
                      <a:cubicBezTo>
                        <a:pt x="1536847" y="437533"/>
                        <a:pt x="1506531" y="476853"/>
                        <a:pt x="1448673" y="553503"/>
                      </a:cubicBezTo>
                      <a:cubicBezTo>
                        <a:pt x="1394868" y="624780"/>
                        <a:pt x="1330886" y="688334"/>
                        <a:pt x="1259492" y="741962"/>
                      </a:cubicBezTo>
                      <a:cubicBezTo>
                        <a:pt x="1177909" y="803232"/>
                        <a:pt x="1086493" y="851566"/>
                        <a:pt x="989545" y="883479"/>
                      </a:cubicBezTo>
                      <a:cubicBezTo>
                        <a:pt x="766020" y="957074"/>
                        <a:pt x="514847" y="942882"/>
                        <a:pt x="301032" y="844574"/>
                      </a:cubicBezTo>
                      <a:cubicBezTo>
                        <a:pt x="223866" y="809099"/>
                        <a:pt x="150605" y="762342"/>
                        <a:pt x="94522" y="698561"/>
                      </a:cubicBezTo>
                      <a:cubicBezTo>
                        <a:pt x="38435" y="634788"/>
                        <a:pt x="542" y="552716"/>
                        <a:pt x="6" y="467786"/>
                      </a:cubicBezTo>
                      <a:cubicBezTo>
                        <a:pt x="-784" y="341400"/>
                        <a:pt x="81435" y="225486"/>
                        <a:pt x="186787" y="155657"/>
                      </a:cubicBezTo>
                      <a:cubicBezTo>
                        <a:pt x="292136" y="85837"/>
                        <a:pt x="418182" y="55005"/>
                        <a:pt x="542540" y="32444"/>
                      </a:cubicBezTo>
                      <a:cubicBezTo>
                        <a:pt x="640769" y="14617"/>
                        <a:pt x="741426" y="1338"/>
                        <a:pt x="841305" y="96"/>
                      </a:cubicBezTo>
                      <a:close/>
                    </a:path>
                  </a:pathLst>
                </a:custGeom>
                <a:solidFill>
                  <a:srgbClr val="EAC0B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1460412" y="2995467"/>
                  <a:ext cx="890753" cy="7126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2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484128" y="3999079"/>
                  <a:ext cx="3015284" cy="78611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自由曲线绘制</a:t>
                  </a:r>
                  <a:endParaRPr lang="en-US" sz="110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484128" y="4785190"/>
                  <a:ext cx="3015284" cy="134891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选择“自由曲线”工具后，按住鼠标并拖动即可绘制出手绘风格的自由曲线。</a:t>
                  </a:r>
                  <a:endParaRPr lang="en-US" sz="1100"/>
                </a:p>
              </p:txBody>
            </p:sp>
          </p:grpSp>
        </p:grpSp>
        <p:grpSp>
          <p:nvGrpSpPr>
            <p:cNvPr id="14" name="Group 14"/>
            <p:cNvGrpSpPr/>
            <p:nvPr/>
          </p:nvGrpSpPr>
          <p:grpSpPr>
            <a:xfrm>
              <a:off x="4490733" y="2760429"/>
              <a:ext cx="3015284" cy="3373671"/>
              <a:chOff x="3273369" y="2760429"/>
              <a:chExt cx="3015284" cy="3373671"/>
            </a:xfrm>
          </p:grpSpPr>
          <p:sp>
            <p:nvSpPr>
              <p:cNvPr id="15" name="AutoShape 15"/>
              <p:cNvSpPr/>
              <p:nvPr/>
            </p:nvSpPr>
            <p:spPr>
              <a:xfrm flipH="1">
                <a:off x="3845969" y="2760429"/>
                <a:ext cx="128343" cy="196984"/>
              </a:xfrm>
              <a:custGeom>
                <a:avLst/>
                <a:gdLst/>
                <a:ahLst/>
                <a:cxnLst/>
                <a:rect l="l" t="t" r="r" b="b"/>
                <a:pathLst>
                  <a:path w="128576" h="197343">
                    <a:moveTo>
                      <a:pt x="129967" y="102962"/>
                    </a:moveTo>
                    <a:cubicBezTo>
                      <a:pt x="99438" y="72173"/>
                      <a:pt x="86217" y="40793"/>
                      <a:pt x="78276" y="608"/>
                    </a:cubicBezTo>
                    <a:cubicBezTo>
                      <a:pt x="61530" y="33757"/>
                      <a:pt x="35677" y="65809"/>
                      <a:pt x="1390" y="88109"/>
                    </a:cubicBezTo>
                    <a:cubicBezTo>
                      <a:pt x="22374" y="113249"/>
                      <a:pt x="49584" y="153954"/>
                      <a:pt x="55235" y="197952"/>
                    </a:cubicBezTo>
                    <a:cubicBezTo>
                      <a:pt x="74628" y="155079"/>
                      <a:pt x="101495" y="122588"/>
                      <a:pt x="129967" y="102962"/>
                    </a:cubicBezTo>
                    <a:close/>
                  </a:path>
                </a:pathLst>
              </a:custGeom>
              <a:solidFill>
                <a:srgbClr val="D8BFC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3273369" y="2876718"/>
                <a:ext cx="3015284" cy="3257382"/>
                <a:chOff x="3273369" y="2876718"/>
                <a:chExt cx="3015284" cy="3257382"/>
              </a:xfrm>
            </p:grpSpPr>
            <p:sp>
              <p:nvSpPr>
                <p:cNvPr id="17" name="AutoShape 17"/>
                <p:cNvSpPr/>
                <p:nvPr/>
              </p:nvSpPr>
              <p:spPr>
                <a:xfrm>
                  <a:off x="3915597" y="2876718"/>
                  <a:ext cx="1558865" cy="93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861" h="930025">
                      <a:moveTo>
                        <a:pt x="841305" y="96"/>
                      </a:moveTo>
                      <a:cubicBezTo>
                        <a:pt x="941185" y="-1146"/>
                        <a:pt x="1040286" y="9648"/>
                        <a:pt x="1135403" y="39966"/>
                      </a:cubicBezTo>
                      <a:cubicBezTo>
                        <a:pt x="1287914" y="88582"/>
                        <a:pt x="1430587" y="196623"/>
                        <a:pt x="1496250" y="345501"/>
                      </a:cubicBezTo>
                      <a:cubicBezTo>
                        <a:pt x="1536847" y="437533"/>
                        <a:pt x="1506531" y="476853"/>
                        <a:pt x="1448673" y="553503"/>
                      </a:cubicBezTo>
                      <a:cubicBezTo>
                        <a:pt x="1394868" y="624780"/>
                        <a:pt x="1330886" y="688334"/>
                        <a:pt x="1259492" y="741962"/>
                      </a:cubicBezTo>
                      <a:cubicBezTo>
                        <a:pt x="1177909" y="803232"/>
                        <a:pt x="1086493" y="851566"/>
                        <a:pt x="989545" y="883479"/>
                      </a:cubicBezTo>
                      <a:cubicBezTo>
                        <a:pt x="766020" y="957074"/>
                        <a:pt x="514847" y="942882"/>
                        <a:pt x="301032" y="844574"/>
                      </a:cubicBezTo>
                      <a:cubicBezTo>
                        <a:pt x="223866" y="809099"/>
                        <a:pt x="150605" y="762342"/>
                        <a:pt x="94522" y="698561"/>
                      </a:cubicBezTo>
                      <a:cubicBezTo>
                        <a:pt x="38435" y="634788"/>
                        <a:pt x="542" y="552716"/>
                        <a:pt x="6" y="467786"/>
                      </a:cubicBezTo>
                      <a:cubicBezTo>
                        <a:pt x="-784" y="341400"/>
                        <a:pt x="81435" y="225486"/>
                        <a:pt x="186787" y="155657"/>
                      </a:cubicBezTo>
                      <a:cubicBezTo>
                        <a:pt x="292136" y="85837"/>
                        <a:pt x="418182" y="55005"/>
                        <a:pt x="542540" y="32444"/>
                      </a:cubicBezTo>
                      <a:cubicBezTo>
                        <a:pt x="640769" y="14617"/>
                        <a:pt x="741426" y="1338"/>
                        <a:pt x="841305" y="96"/>
                      </a:cubicBezTo>
                      <a:close/>
                    </a:path>
                  </a:pathLst>
                </a:custGeom>
                <a:solidFill>
                  <a:srgbClr val="FFCE8E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4249653" y="2995467"/>
                  <a:ext cx="890753" cy="7126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2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3273369" y="3999079"/>
                  <a:ext cx="3015284" cy="78611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参数化曲线调整</a:t>
                  </a:r>
                  <a:endParaRPr lang="en-US" sz="1100"/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3273369" y="4785190"/>
                  <a:ext cx="3015284" cy="134891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使用“曲线”工具绘制箭头曲线，选中后会出现圆形控制点，通过拖动控制点可以精确调整曲线的弯曲方向和幅度。</a:t>
                  </a:r>
                  <a:endParaRPr lang="en-US" sz="1100"/>
                </a:p>
              </p:txBody>
            </p:sp>
          </p:grpSp>
        </p:grpSp>
        <p:grpSp>
          <p:nvGrpSpPr>
            <p:cNvPr id="21" name="Group 21"/>
            <p:cNvGrpSpPr/>
            <p:nvPr/>
          </p:nvGrpSpPr>
          <p:grpSpPr>
            <a:xfrm>
              <a:off x="8122767" y="2876718"/>
              <a:ext cx="3015284" cy="3257382"/>
              <a:chOff x="6062611" y="2876718"/>
              <a:chExt cx="3015284" cy="3257382"/>
            </a:xfrm>
          </p:grpSpPr>
          <p:sp>
            <p:nvSpPr>
              <p:cNvPr id="22" name="AutoShape 22"/>
              <p:cNvSpPr/>
              <p:nvPr/>
            </p:nvSpPr>
            <p:spPr>
              <a:xfrm>
                <a:off x="6704839" y="2876718"/>
                <a:ext cx="1558865" cy="930025"/>
              </a:xfrm>
              <a:custGeom>
                <a:avLst/>
                <a:gdLst/>
                <a:ahLst/>
                <a:cxnLst/>
                <a:rect l="l" t="t" r="r" b="b"/>
                <a:pathLst>
                  <a:path w="1514861" h="930025">
                    <a:moveTo>
                      <a:pt x="841305" y="96"/>
                    </a:moveTo>
                    <a:cubicBezTo>
                      <a:pt x="941185" y="-1146"/>
                      <a:pt x="1040286" y="9648"/>
                      <a:pt x="1135403" y="39966"/>
                    </a:cubicBezTo>
                    <a:cubicBezTo>
                      <a:pt x="1287914" y="88582"/>
                      <a:pt x="1430587" y="196623"/>
                      <a:pt x="1496250" y="345501"/>
                    </a:cubicBezTo>
                    <a:cubicBezTo>
                      <a:pt x="1536847" y="437533"/>
                      <a:pt x="1506531" y="476853"/>
                      <a:pt x="1448673" y="553503"/>
                    </a:cubicBezTo>
                    <a:cubicBezTo>
                      <a:pt x="1394868" y="624780"/>
                      <a:pt x="1330886" y="688334"/>
                      <a:pt x="1259492" y="741962"/>
                    </a:cubicBezTo>
                    <a:cubicBezTo>
                      <a:pt x="1177909" y="803232"/>
                      <a:pt x="1086493" y="851566"/>
                      <a:pt x="989545" y="883479"/>
                    </a:cubicBezTo>
                    <a:cubicBezTo>
                      <a:pt x="766020" y="957074"/>
                      <a:pt x="514847" y="942882"/>
                      <a:pt x="301032" y="844574"/>
                    </a:cubicBezTo>
                    <a:cubicBezTo>
                      <a:pt x="223866" y="809099"/>
                      <a:pt x="150605" y="762342"/>
                      <a:pt x="94522" y="698561"/>
                    </a:cubicBezTo>
                    <a:cubicBezTo>
                      <a:pt x="38435" y="634788"/>
                      <a:pt x="542" y="552716"/>
                      <a:pt x="6" y="467786"/>
                    </a:cubicBezTo>
                    <a:cubicBezTo>
                      <a:pt x="-784" y="341400"/>
                      <a:pt x="81435" y="225486"/>
                      <a:pt x="186787" y="155657"/>
                    </a:cubicBezTo>
                    <a:cubicBezTo>
                      <a:pt x="292136" y="85837"/>
                      <a:pt x="418182" y="55005"/>
                      <a:pt x="542540" y="32444"/>
                    </a:cubicBezTo>
                    <a:cubicBezTo>
                      <a:pt x="640769" y="14617"/>
                      <a:pt x="741426" y="1338"/>
                      <a:pt x="841305" y="96"/>
                    </a:cubicBezTo>
                    <a:close/>
                  </a:path>
                </a:pathLst>
              </a:custGeom>
              <a:solidFill>
                <a:srgbClr val="947D6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038894" y="2995467"/>
                <a:ext cx="890753" cy="7126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062611" y="3999079"/>
                <a:ext cx="3015284" cy="78611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交互式编辑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062611" y="4785190"/>
                <a:ext cx="3015284" cy="13489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结合“选择”工具，用户可以实时地对曲线进行编辑和调整，实现高度自由的图形设计。</a:t>
                </a:r>
                <a:endParaRPr lang="en-US" sz="1100"/>
              </a:p>
            </p:txBody>
          </p:sp>
        </p:grpSp>
        <p:sp>
          <p:nvSpPr>
            <p:cNvPr id="26" name="AutoShape 26"/>
            <p:cNvSpPr/>
            <p:nvPr/>
          </p:nvSpPr>
          <p:spPr>
            <a:xfrm>
              <a:off x="9919185" y="2707501"/>
              <a:ext cx="1857846" cy="770745"/>
            </a:xfrm>
            <a:custGeom>
              <a:avLst/>
              <a:gdLst/>
              <a:ahLst/>
              <a:cxnLst/>
              <a:rect l="l" t="t" r="r" b="b"/>
              <a:pathLst>
                <a:path w="1854200" h="687748">
                  <a:moveTo>
                    <a:pt x="0" y="170554"/>
                  </a:moveTo>
                  <a:cubicBezTo>
                    <a:pt x="234950" y="59076"/>
                    <a:pt x="469900" y="-52401"/>
                    <a:pt x="685800" y="26621"/>
                  </a:cubicBezTo>
                  <a:cubicBezTo>
                    <a:pt x="901700" y="105643"/>
                    <a:pt x="1100667" y="543088"/>
                    <a:pt x="1295400" y="644688"/>
                  </a:cubicBezTo>
                  <a:cubicBezTo>
                    <a:pt x="1490133" y="746288"/>
                    <a:pt x="1854200" y="636221"/>
                    <a:pt x="1854200" y="636221"/>
                  </a:cubicBezTo>
                </a:path>
              </a:pathLst>
            </a:custGeom>
            <a:ln w="12700">
              <a:solidFill>
                <a:srgbClr val="D8BFCC">
                  <a:alpha val="100000"/>
                </a:srgbClr>
              </a:solidFill>
              <a:prstDash val="solid"/>
              <a:headEnd type="oval"/>
              <a:tailEnd type="oval"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660400" y="311149"/>
            <a:ext cx="10858500" cy="7175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曲线操作指南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1186" y="1388614"/>
            <a:ext cx="7356928" cy="25443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总结与展望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29915" y="4814388"/>
            <a:ext cx="7200900" cy="127963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回顾项目特点，展望未来可能的发展方向，为项目的持续优化提供思路。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5aadc93-0cf5-4150-9673-0b729d906e9d"/>
          <p:cNvGrpSpPr/>
          <p:nvPr/>
        </p:nvGrpSpPr>
        <p:grpSpPr>
          <a:xfrm>
            <a:off x="660400" y="1130300"/>
            <a:ext cx="10858500" cy="4800600"/>
            <a:chOff x="660400" y="1130300"/>
            <a:chExt cx="10858500" cy="48006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轻量高效的绘图利器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753908" y="2022324"/>
              <a:ext cx="10701492" cy="1139702"/>
              <a:chOff x="753908" y="2022324"/>
              <a:chExt cx="10701492" cy="1139702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1252013" y="2022327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 rot="16200000">
                <a:off x="433111" y="2343121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rgbClr val="EAC0B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eaVert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354796" y="2074878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优势亮点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375365" y="2074878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完全基于Python标准库，无需安装额外依赖，启动迅速，界面简洁易用。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753907" y="3406764"/>
              <a:ext cx="10695526" cy="1139700"/>
              <a:chOff x="753907" y="3406764"/>
              <a:chExt cx="10695526" cy="1139700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1246046" y="3406764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348829" y="3469640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适用人群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369398" y="3469640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特别适合初学者、教育工作者以及需要快速绘制矢量草图的用户。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 rot="16200000">
                <a:off x="433110" y="3727561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rgbClr val="EAC0B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eaVert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47734" y="4791200"/>
              <a:ext cx="10707666" cy="1139700"/>
              <a:chOff x="747734" y="4791200"/>
              <a:chExt cx="10707666" cy="113970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1252013" y="4791201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348829" y="4864402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学习价值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369398" y="4864402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源代码结构清晰，是学习Python GUI编程和图形数据结构的优秀实践案例。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 rot="16200000">
                <a:off x="426937" y="5111997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rgbClr val="EAC0B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eaVert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311149"/>
            <a:ext cx="10858500" cy="7175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项目总结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b194fd9-beca-4084-a7ad-e1bde95d0479"/>
          <p:cNvGrpSpPr/>
          <p:nvPr/>
        </p:nvGrpSpPr>
        <p:grpSpPr>
          <a:xfrm>
            <a:off x="660400" y="1243980"/>
            <a:ext cx="10858500" cy="4370041"/>
            <a:chOff x="660400" y="1243980"/>
            <a:chExt cx="10858500" cy="4370041"/>
          </a:xfrm>
        </p:grpSpPr>
        <p:grpSp>
          <p:nvGrpSpPr>
            <p:cNvPr id="3" name="Group 3"/>
            <p:cNvGrpSpPr/>
            <p:nvPr/>
          </p:nvGrpSpPr>
          <p:grpSpPr>
            <a:xfrm>
              <a:off x="660400" y="2200109"/>
              <a:ext cx="10858500" cy="3413912"/>
              <a:chOff x="732760" y="2200109"/>
              <a:chExt cx="6430688" cy="3413912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732760" y="2200109"/>
                <a:ext cx="2073146" cy="3413912"/>
                <a:chOff x="4763055" y="549649"/>
                <a:chExt cx="2574332" cy="4239230"/>
              </a:xfrm>
            </p:grpSpPr>
            <p:sp>
              <p:nvSpPr>
                <p:cNvPr id="5" name="AutoShape 5"/>
                <p:cNvSpPr/>
                <p:nvPr/>
              </p:nvSpPr>
              <p:spPr>
                <a:xfrm>
                  <a:off x="4841905" y="549649"/>
                  <a:ext cx="2495482" cy="4239230"/>
                </a:xfrm>
                <a:prstGeom prst="flowChartOffpageConnector">
                  <a:avLst/>
                </a:prstGeom>
                <a:solidFill>
                  <a:srgbClr val="EAC0B8">
                    <a:alpha val="2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4962201" y="1862929"/>
                  <a:ext cx="2254896" cy="10044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功能增强</a:t>
                  </a:r>
                  <a:endParaRPr lang="en-US" sz="1100"/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4962204" y="2975578"/>
                  <a:ext cx="2254897" cy="148762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计划未来增加更多的图形符号库，支持更多高级图形特效，如阴影、透明度等。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4763055" y="759322"/>
                  <a:ext cx="2254901" cy="710913"/>
                </a:xfrm>
                <a:prstGeom prst="homePlate">
                  <a:avLst/>
                </a:prstGeom>
                <a:gradFill>
                  <a:gsLst>
                    <a:gs pos="0">
                      <a:srgbClr val="EAC0B8">
                        <a:alpha val="100000"/>
                        <a:lumMod val="60000"/>
                        <a:lumOff val="40000"/>
                      </a:srgbClr>
                    </a:gs>
                    <a:gs pos="75000">
                      <a:srgbClr val="EAC0B8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>
                <a:off x="2896079" y="2200109"/>
                <a:ext cx="2088597" cy="3413912"/>
                <a:chOff x="4743868" y="549649"/>
                <a:chExt cx="2593519" cy="4239230"/>
              </a:xfrm>
            </p:grpSpPr>
            <p:sp>
              <p:nvSpPr>
                <p:cNvPr id="10" name="AutoShape 10"/>
                <p:cNvSpPr/>
                <p:nvPr/>
              </p:nvSpPr>
              <p:spPr>
                <a:xfrm>
                  <a:off x="4841905" y="549649"/>
                  <a:ext cx="2495482" cy="4239230"/>
                </a:xfrm>
                <a:prstGeom prst="flowChartOffpageConnector">
                  <a:avLst/>
                </a:prstGeom>
                <a:solidFill>
                  <a:srgbClr val="FFCE8E">
                    <a:alpha val="2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4962204" y="1862929"/>
                  <a:ext cx="2254897" cy="10044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平台扩展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4962204" y="2975578"/>
                  <a:ext cx="2254897" cy="148762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考虑将核心数据模型与Web技术结合，探索开发跨平台的网页版本编辑器。</a:t>
                  </a:r>
                  <a:endParaRPr lang="en-US" sz="110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4743868" y="759322"/>
                  <a:ext cx="2254900" cy="710913"/>
                </a:xfrm>
                <a:prstGeom prst="homePlate">
                  <a:avLst/>
                </a:prstGeom>
                <a:gradFill>
                  <a:gsLst>
                    <a:gs pos="0">
                      <a:srgbClr val="FFCE8E">
                        <a:alpha val="100000"/>
                        <a:lumMod val="60000"/>
                        <a:lumOff val="40000"/>
                      </a:srgbClr>
                    </a:gs>
                    <a:gs pos="75000">
                      <a:srgbClr val="FFCE8E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  <p:grpSp>
            <p:nvGrpSpPr>
              <p:cNvPr id="14" name="Group 14"/>
              <p:cNvGrpSpPr/>
              <p:nvPr/>
            </p:nvGrpSpPr>
            <p:grpSpPr>
              <a:xfrm>
                <a:off x="5074851" y="2200109"/>
                <a:ext cx="2088597" cy="3413912"/>
                <a:chOff x="4743868" y="549651"/>
                <a:chExt cx="2593519" cy="4239230"/>
              </a:xfrm>
            </p:grpSpPr>
            <p:sp>
              <p:nvSpPr>
                <p:cNvPr id="15" name="AutoShape 15"/>
                <p:cNvSpPr/>
                <p:nvPr/>
              </p:nvSpPr>
              <p:spPr>
                <a:xfrm>
                  <a:off x="4841905" y="549651"/>
                  <a:ext cx="2495482" cy="4239230"/>
                </a:xfrm>
                <a:prstGeom prst="flowChartOffpageConnector">
                  <a:avLst/>
                </a:prstGeom>
                <a:solidFill>
                  <a:srgbClr val="947D65">
                    <a:alpha val="2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4962204" y="1862929"/>
                  <a:ext cx="2254897" cy="10044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社区共建</a:t>
                  </a:r>
                  <a:endParaRPr lang="en-US" sz="1100"/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4962204" y="2975578"/>
                  <a:ext cx="2254897" cy="148762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欢迎广大开发者参与贡献，共同完善功能，打造一个更强大的开源图形编辑工具。</a:t>
                  </a:r>
                  <a:endParaRPr lang="en-US" sz="110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4743868" y="759322"/>
                  <a:ext cx="2254900" cy="710913"/>
                </a:xfrm>
                <a:prstGeom prst="homePlate">
                  <a:avLst/>
                </a:prstGeom>
                <a:gradFill>
                  <a:gsLst>
                    <a:gs pos="0">
                      <a:srgbClr val="947D65">
                        <a:alpha val="100000"/>
                        <a:lumMod val="60000"/>
                        <a:lumOff val="40000"/>
                      </a:srgbClr>
                    </a:gs>
                    <a:gs pos="75000">
                      <a:srgbClr val="947D65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</p:grpSp>
        <p:sp>
          <p:nvSpPr>
            <p:cNvPr id="19" name="TextBox 19"/>
            <p:cNvSpPr txBox="1"/>
            <p:nvPr/>
          </p:nvSpPr>
          <p:spPr>
            <a:xfrm>
              <a:off x="660400" y="1243980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探索更多可能性</a:t>
              </a:r>
              <a:endParaRPr lang="en-US" sz="11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0400" y="311149"/>
            <a:ext cx="10858500" cy="7175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未来展望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58086" y="1617131"/>
            <a:ext cx="7463130" cy="217289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000" b="1" i="0">
                <a:ln w="19050"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913284" y="4686872"/>
            <a:ext cx="6352730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t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 dirty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报告人</a:t>
            </a:r>
            <a:r>
              <a:rPr lang="en-US" sz="12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:</a:t>
            </a:r>
            <a:r>
              <a:rPr lang="zh-CN" altLang="en-US" sz="12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马振家</a:t>
            </a: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2913284" y="4963871"/>
            <a:ext cx="6352730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t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2026.6.01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6480397d-eb54-4d87-836f-543efe3623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480397d-eb54-4d87-836f-543efe3623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751</Words>
  <Application>Microsoft Office PowerPoint</Application>
  <PresentationFormat>宽屏</PresentationFormat>
  <Paragraphs>162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微软雅黑</vt:lpstr>
      <vt:lpstr>Arial</vt:lpstr>
      <vt:lpstr>Calibri</vt:lpstr>
      <vt:lpstr>6480397d-eb54-4d87-836f-543efe362352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抹茶 星冰乐</cp:lastModifiedBy>
  <cp:revision>3</cp:revision>
  <dcterms:created xsi:type="dcterms:W3CDTF">2006-08-16T00:00:00Z</dcterms:created>
  <dcterms:modified xsi:type="dcterms:W3CDTF">2026-06-01T02:44:50Z</dcterms:modified>
</cp:coreProperties>
</file>